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I am Kayes Md Golam Murtuja from Al-Farabi Kazakh National University, presenting as Team KayCode. Project Axiora proposes CourseForge AI, a tool that turns existing textbook chapters into structured, editable mini-courses. Track: AI for Education and Learning. SDG 4: Quality Education.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Teachers already have textbooks, but a chapter is not a lesson plan. Turning it into objectives, lessons, examples, exercises and quizzes is manual work, and the result has to stay faithful to the source. Generic summaries shorten text but do not produce a course. The opportunity is to draft that structure automatically while keeping the teacher in charge.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CourseForge AI is the proposed solution. The teacher uploads a textbook PDF, selects a chapter, the system generates a mini-course, and the teacher reviews and edits it. The output includes learning objectives, structured lessons, examples, practice activities, quizzes with explanations and page references.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summary condenses a document. CourseForge AI aims to produce a teaching structure: objectives, lessons, practice and quizzes, each linked to source pages, with the teacher reviewing everything. The innovation is the combination of structured generation, traceability and teacher control. Citations help verification but do not guarantee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proposed MVP interface, a conceptual design and not a screenshot. On the left the teacher uploads a PDF and selects a chapter. The main panel shows objectives, five lesson cards, a quiz question with its answer, explanation and source page, and the review actions. The MVP scope is one chapter and five lessons, and the goal is to demonstrate this workflow as working software at the event.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supports SDG 4, Quality Education. The intended benefits are less manual preparation, easier reuse of existing textbooks and more accessible structured resources. We plan to measure three things: teacher preparation time before and after, the accuracy of source-page references, and the share of generated material teachers accept after review. These are planned metrics, not results.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pipeline is simple: PDF input, text extraction in Python with page metadata, chapter segmentation, source retrieval, LLM generation with structured JSON output, validation of structure and citations, then teacher review in a Streamlit interface. The scope is deliberately limited to one chapter and five lessons. Key risks include poor PDFs, inaccurate content, wrong citations, inconsistent output, API cost and copyright, each with a mitigation, though none removes errors completely.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is to build and validate the one-chapter MVP. Phase 2 adds teacher editing, downloadable materials and more textbook support. Phase 3 explores multilingual support, curriculum alignment and LMS integration. Phases 2 and 3 are future possibilities. Turn the textbooks schools already have into learning experiences teachers can actually use.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731520" y="777240"/>
            <a:ext cx="6400800" cy="320040"/>
          </a:xfrm>
          <a:prstGeom prst="rect">
            <a:avLst/>
          </a:prstGeom>
          <a:noFill/>
        </p:spPr>
        <p:txBody>
          <a:bodyPr wrap="square" lIns="0" rIns="0" tIns="0" bIns="0" anchor="t">
            <a:noAutofit/>
          </a:bodyPr>
          <a:lstStyle/>
          <a:p>
            <a:pPr algn="l">
              <a:spcAft>
                <a:spcPts val="0"/>
              </a:spcAft>
            </a:pPr>
            <a:r>
              <a:rPr sz="1500" b="1" i="0">
                <a:solidFill>
                  <a:srgbClr val="10B981"/>
                </a:solidFill>
                <a:latin typeface="Calibri"/>
              </a:rPr>
              <a:t>SDG IMPACT HACKATHON 2026</a:t>
            </a:r>
          </a:p>
        </p:txBody>
      </p:sp>
      <p:sp>
        <p:nvSpPr>
          <p:cNvPr id="3" name="TextBox 2"/>
          <p:cNvSpPr txBox="1"/>
          <p:nvPr/>
        </p:nvSpPr>
        <p:spPr>
          <a:xfrm>
            <a:off x="731520" y="1188720"/>
            <a:ext cx="6675120" cy="1005840"/>
          </a:xfrm>
          <a:prstGeom prst="rect">
            <a:avLst/>
          </a:prstGeom>
          <a:noFill/>
        </p:spPr>
        <p:txBody>
          <a:bodyPr wrap="square" lIns="0" rIns="0" tIns="0" bIns="0" anchor="t">
            <a:noAutofit/>
          </a:bodyPr>
          <a:lstStyle/>
          <a:p>
            <a:pPr algn="l">
              <a:spcAft>
                <a:spcPts val="0"/>
              </a:spcAft>
            </a:pPr>
            <a:r>
              <a:rPr sz="6000" b="1" i="0">
                <a:solidFill>
                  <a:srgbClr val="FFFFFF"/>
                </a:solidFill>
                <a:latin typeface="Calibri"/>
              </a:rPr>
              <a:t>PROJECT AXIORA</a:t>
            </a:r>
          </a:p>
        </p:txBody>
      </p:sp>
      <p:sp>
        <p:nvSpPr>
          <p:cNvPr id="4" name="TextBox 3"/>
          <p:cNvSpPr txBox="1"/>
          <p:nvPr/>
        </p:nvSpPr>
        <p:spPr>
          <a:xfrm>
            <a:off x="731520" y="2240280"/>
            <a:ext cx="6675120" cy="640080"/>
          </a:xfrm>
          <a:prstGeom prst="rect">
            <a:avLst/>
          </a:prstGeom>
          <a:noFill/>
        </p:spPr>
        <p:txBody>
          <a:bodyPr wrap="square" lIns="0" rIns="0" tIns="0" bIns="0" anchor="t">
            <a:noAutofit/>
          </a:bodyPr>
          <a:lstStyle/>
          <a:p>
            <a:pPr algn="l">
              <a:spcAft>
                <a:spcPts val="0"/>
              </a:spcAft>
            </a:pPr>
            <a:r>
              <a:rPr sz="3400" b="1" i="0">
                <a:solidFill>
                  <a:srgbClr val="10B981"/>
                </a:solidFill>
                <a:latin typeface="Calibri"/>
              </a:rPr>
              <a:t>CourseForge AI</a:t>
            </a:r>
          </a:p>
        </p:txBody>
      </p:sp>
      <p:sp>
        <p:nvSpPr>
          <p:cNvPr id="5" name="TextBox 4"/>
          <p:cNvSpPr txBox="1"/>
          <p:nvPr/>
        </p:nvSpPr>
        <p:spPr>
          <a:xfrm>
            <a:off x="731520" y="2880360"/>
            <a:ext cx="6675120" cy="457200"/>
          </a:xfrm>
          <a:prstGeom prst="rect">
            <a:avLst/>
          </a:prstGeom>
          <a:noFill/>
        </p:spPr>
        <p:txBody>
          <a:bodyPr wrap="square" lIns="0" rIns="0" tIns="0" bIns="0" anchor="t">
            <a:noAutofit/>
          </a:bodyPr>
          <a:lstStyle/>
          <a:p>
            <a:pPr algn="l">
              <a:spcAft>
                <a:spcPts val="0"/>
              </a:spcAft>
            </a:pPr>
            <a:r>
              <a:rPr sz="2000" b="0" i="0">
                <a:solidFill>
                  <a:srgbClr val="C9D6EA"/>
                </a:solidFill>
                <a:latin typeface="Calibri"/>
              </a:rPr>
              <a:t>From Textbooks to Structured Learning Experiences</a:t>
            </a:r>
          </a:p>
        </p:txBody>
      </p:sp>
      <p:sp>
        <p:nvSpPr>
          <p:cNvPr id="6" name="TextBox 5"/>
          <p:cNvSpPr txBox="1"/>
          <p:nvPr/>
        </p:nvSpPr>
        <p:spPr>
          <a:xfrm>
            <a:off x="731520" y="3794760"/>
            <a:ext cx="6675120" cy="1188720"/>
          </a:xfrm>
          <a:prstGeom prst="rect">
            <a:avLst/>
          </a:prstGeom>
          <a:noFill/>
        </p:spPr>
        <p:txBody>
          <a:bodyPr wrap="square" lIns="0" rIns="0" tIns="0" bIns="0" anchor="t">
            <a:noAutofit/>
          </a:bodyPr>
          <a:lstStyle/>
          <a:p>
            <a:pPr algn="l">
              <a:spcAft>
                <a:spcPts val="400"/>
              </a:spcAft>
            </a:pPr>
            <a:r>
              <a:rPr sz="2000" b="1" i="0">
                <a:solidFill>
                  <a:srgbClr val="FFFFFF"/>
                </a:solidFill>
                <a:latin typeface="Calibri"/>
              </a:rPr>
              <a:t>Team KayCode</a:t>
            </a:r>
          </a:p>
          <a:p>
            <a:pPr algn="l">
              <a:spcAft>
                <a:spcPts val="200"/>
              </a:spcAft>
            </a:pPr>
            <a:r>
              <a:rPr sz="1600" b="0" i="0">
                <a:solidFill>
                  <a:srgbClr val="C9D6EA"/>
                </a:solidFill>
                <a:latin typeface="Calibri"/>
              </a:rPr>
              <a:t>Presenter: Kayes Md Golam Murtuja</a:t>
            </a:r>
          </a:p>
          <a:p>
            <a:pPr algn="l">
              <a:spcAft>
                <a:spcPts val="0"/>
              </a:spcAft>
            </a:pPr>
            <a:r>
              <a:rPr sz="1600" b="0" i="0">
                <a:solidFill>
                  <a:srgbClr val="C9D6EA"/>
                </a:solidFill>
                <a:latin typeface="Calibri"/>
              </a:rPr>
              <a:t>Al-Farabi Kazakh National University</a:t>
            </a:r>
          </a:p>
        </p:txBody>
      </p:sp>
      <p:sp>
        <p:nvSpPr>
          <p:cNvPr id="7" name="Rounded Rectangle 6"/>
          <p:cNvSpPr/>
          <p:nvPr/>
        </p:nvSpPr>
        <p:spPr>
          <a:xfrm>
            <a:off x="731520" y="5166360"/>
            <a:ext cx="3154680" cy="457200"/>
          </a:xfrm>
          <a:prstGeom prst="roundRect">
            <a:avLst>
              <a:gd name="adj" fmla="val 50000"/>
            </a:avLst>
          </a:prstGeom>
          <a:no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400" b="1" i="0">
                <a:solidFill>
                  <a:srgbClr val="FFFFFF"/>
                </a:solidFill>
                <a:latin typeface="Calibri"/>
              </a:rPr>
              <a:t>Track: AI for Education &amp; Learning</a:t>
            </a:r>
          </a:p>
        </p:txBody>
      </p:sp>
      <p:sp>
        <p:nvSpPr>
          <p:cNvPr id="8" name="Rounded Rectangle 7"/>
          <p:cNvSpPr/>
          <p:nvPr/>
        </p:nvSpPr>
        <p:spPr>
          <a:xfrm>
            <a:off x="4069080" y="5166360"/>
            <a:ext cx="2926080" cy="45720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400" b="1" i="0">
                <a:solidFill>
                  <a:srgbClr val="0B1F3A"/>
                </a:solidFill>
                <a:latin typeface="Calibri"/>
              </a:rPr>
              <a:t>SDG 4: Quality Education</a:t>
            </a:r>
          </a:p>
        </p:txBody>
      </p:sp>
      <p:sp>
        <p:nvSpPr>
          <p:cNvPr id="9" name="TextBox 8"/>
          <p:cNvSpPr txBox="1"/>
          <p:nvPr/>
        </p:nvSpPr>
        <p:spPr>
          <a:xfrm>
            <a:off x="731520" y="6126480"/>
            <a:ext cx="7315200" cy="274320"/>
          </a:xfrm>
          <a:prstGeom prst="rect">
            <a:avLst/>
          </a:prstGeom>
          <a:noFill/>
        </p:spPr>
        <p:txBody>
          <a:bodyPr wrap="square" lIns="0" rIns="0" tIns="0" bIns="0" anchor="t">
            <a:noAutofit/>
          </a:bodyPr>
          <a:lstStyle/>
          <a:p>
            <a:pPr algn="l">
              <a:spcAft>
                <a:spcPts val="0"/>
              </a:spcAft>
            </a:pPr>
            <a:r>
              <a:rPr sz="1200" b="0" i="0">
                <a:solidFill>
                  <a:srgbClr val="C9D6EA"/>
                </a:solidFill>
                <a:latin typeface="Calibri"/>
              </a:rPr>
              <a:t>November 29, 2026  |  Kazakh-British Technical University (KBTU), Almaty</a:t>
            </a:r>
          </a:p>
        </p:txBody>
      </p:sp>
      <p:sp>
        <p:nvSpPr>
          <p:cNvPr id="10" name="Rounded Rectangle 9"/>
          <p:cNvSpPr/>
          <p:nvPr/>
        </p:nvSpPr>
        <p:spPr>
          <a:xfrm>
            <a:off x="7726679" y="2057400"/>
            <a:ext cx="1417320" cy="1965960"/>
          </a:xfrm>
          <a:prstGeom prst="roundRect">
            <a:avLst>
              <a:gd name="adj" fmla="val 6000"/>
            </a:avLst>
          </a:prstGeom>
          <a:solidFill>
            <a:srgbClr val="173258"/>
          </a:solidFill>
          <a:ln w="15875">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891271" y="2258568"/>
            <a:ext cx="914400" cy="10972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891271" y="2560320"/>
            <a:ext cx="1088136" cy="54864"/>
          </a:xfrm>
          <a:prstGeom prst="roundRect">
            <a:avLst>
              <a:gd name="adj" fmla="val 50000"/>
            </a:avLst>
          </a:prstGeom>
          <a:solidFill>
            <a:srgbClr val="3A52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891271" y="2743200"/>
            <a:ext cx="1088136" cy="54864"/>
          </a:xfrm>
          <a:prstGeom prst="roundRect">
            <a:avLst>
              <a:gd name="adj" fmla="val 50000"/>
            </a:avLst>
          </a:prstGeom>
          <a:solidFill>
            <a:srgbClr val="3A52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891271" y="2926079"/>
            <a:ext cx="731520" cy="54864"/>
          </a:xfrm>
          <a:prstGeom prst="roundRect">
            <a:avLst>
              <a:gd name="adj" fmla="val 50000"/>
            </a:avLst>
          </a:prstGeom>
          <a:solidFill>
            <a:srgbClr val="3A52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891271" y="3108960"/>
            <a:ext cx="1088136" cy="54864"/>
          </a:xfrm>
          <a:prstGeom prst="roundRect">
            <a:avLst>
              <a:gd name="adj" fmla="val 50000"/>
            </a:avLst>
          </a:prstGeom>
          <a:solidFill>
            <a:srgbClr val="3A52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891271" y="3291839"/>
            <a:ext cx="1088136" cy="54864"/>
          </a:xfrm>
          <a:prstGeom prst="roundRect">
            <a:avLst>
              <a:gd name="adj" fmla="val 50000"/>
            </a:avLst>
          </a:prstGeom>
          <a:solidFill>
            <a:srgbClr val="3A52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891271" y="3474720"/>
            <a:ext cx="731520" cy="54864"/>
          </a:xfrm>
          <a:prstGeom prst="roundRect">
            <a:avLst>
              <a:gd name="adj" fmla="val 50000"/>
            </a:avLst>
          </a:prstGeom>
          <a:solidFill>
            <a:srgbClr val="3A52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891271" y="3657600"/>
            <a:ext cx="1088136" cy="54864"/>
          </a:xfrm>
          <a:prstGeom prst="roundRect">
            <a:avLst>
              <a:gd name="adj" fmla="val 50000"/>
            </a:avLst>
          </a:prstGeom>
          <a:solidFill>
            <a:srgbClr val="3A52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43800" y="4160520"/>
            <a:ext cx="1783080" cy="274320"/>
          </a:xfrm>
          <a:prstGeom prst="rect">
            <a:avLst/>
          </a:prstGeom>
          <a:noFill/>
        </p:spPr>
        <p:txBody>
          <a:bodyPr wrap="square" lIns="0" rIns="0" tIns="0" bIns="0" anchor="t">
            <a:noAutofit/>
          </a:bodyPr>
          <a:lstStyle/>
          <a:p>
            <a:pPr algn="ctr">
              <a:spcAft>
                <a:spcPts val="0"/>
              </a:spcAft>
            </a:pPr>
            <a:r>
              <a:rPr sz="1200" b="0" i="0">
                <a:solidFill>
                  <a:srgbClr val="C9D6EA"/>
                </a:solidFill>
                <a:latin typeface="Calibri"/>
              </a:rPr>
              <a:t>Textbook chapter</a:t>
            </a:r>
          </a:p>
        </p:txBody>
      </p:sp>
      <p:sp>
        <p:nvSpPr>
          <p:cNvPr id="20" name="Right Arrow 19"/>
          <p:cNvSpPr/>
          <p:nvPr/>
        </p:nvSpPr>
        <p:spPr>
          <a:xfrm>
            <a:off x="9299448" y="2862072"/>
            <a:ext cx="411480" cy="365760"/>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875520" y="1737360"/>
            <a:ext cx="1874519" cy="566928"/>
          </a:xfrm>
          <a:prstGeom prst="roundRect">
            <a:avLst>
              <a:gd name="adj" fmla="val 18000"/>
            </a:avLst>
          </a:prstGeom>
          <a:solidFill>
            <a:srgbClr val="173258"/>
          </a:solidFill>
          <a:ln w="12700">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03536" y="1920240"/>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05288" y="1737360"/>
            <a:ext cx="1417320" cy="566928"/>
          </a:xfrm>
          <a:prstGeom prst="rect">
            <a:avLst/>
          </a:prstGeom>
          <a:noFill/>
        </p:spPr>
        <p:txBody>
          <a:bodyPr wrap="square" lIns="0" rIns="0" tIns="0" bIns="0" anchor="ctr">
            <a:noAutofit/>
          </a:bodyPr>
          <a:lstStyle/>
          <a:p>
            <a:pPr algn="l">
              <a:spcAft>
                <a:spcPts val="0"/>
              </a:spcAft>
            </a:pPr>
            <a:r>
              <a:rPr sz="1300" b="1" i="0">
                <a:solidFill>
                  <a:srgbClr val="FFFFFF"/>
                </a:solidFill>
                <a:latin typeface="Calibri"/>
              </a:rPr>
              <a:t>Learning objectives</a:t>
            </a:r>
          </a:p>
        </p:txBody>
      </p:sp>
      <p:sp>
        <p:nvSpPr>
          <p:cNvPr id="24" name="Rounded Rectangle 23"/>
          <p:cNvSpPr/>
          <p:nvPr/>
        </p:nvSpPr>
        <p:spPr>
          <a:xfrm>
            <a:off x="9875520" y="2450591"/>
            <a:ext cx="1874519" cy="566928"/>
          </a:xfrm>
          <a:prstGeom prst="roundRect">
            <a:avLst>
              <a:gd name="adj" fmla="val 18000"/>
            </a:avLst>
          </a:prstGeom>
          <a:solidFill>
            <a:srgbClr val="173258"/>
          </a:solidFill>
          <a:ln w="12700">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003536" y="2633472"/>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05288" y="2450591"/>
            <a:ext cx="1417320" cy="566928"/>
          </a:xfrm>
          <a:prstGeom prst="rect">
            <a:avLst/>
          </a:prstGeom>
          <a:noFill/>
        </p:spPr>
        <p:txBody>
          <a:bodyPr wrap="square" lIns="0" rIns="0" tIns="0" bIns="0" anchor="ctr">
            <a:noAutofit/>
          </a:bodyPr>
          <a:lstStyle/>
          <a:p>
            <a:pPr algn="l">
              <a:spcAft>
                <a:spcPts val="0"/>
              </a:spcAft>
            </a:pPr>
            <a:r>
              <a:rPr sz="1300" b="1" i="0">
                <a:solidFill>
                  <a:srgbClr val="FFFFFF"/>
                </a:solidFill>
                <a:latin typeface="Calibri"/>
              </a:rPr>
              <a:t>Lessons</a:t>
            </a:r>
          </a:p>
        </p:txBody>
      </p:sp>
      <p:sp>
        <p:nvSpPr>
          <p:cNvPr id="27" name="Rounded Rectangle 26"/>
          <p:cNvSpPr/>
          <p:nvPr/>
        </p:nvSpPr>
        <p:spPr>
          <a:xfrm>
            <a:off x="9875520" y="3163824"/>
            <a:ext cx="1874519" cy="566928"/>
          </a:xfrm>
          <a:prstGeom prst="roundRect">
            <a:avLst>
              <a:gd name="adj" fmla="val 18000"/>
            </a:avLst>
          </a:prstGeom>
          <a:solidFill>
            <a:srgbClr val="173258"/>
          </a:solidFill>
          <a:ln w="12700">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003536" y="3346704"/>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05288" y="3163824"/>
            <a:ext cx="1417320" cy="566928"/>
          </a:xfrm>
          <a:prstGeom prst="rect">
            <a:avLst/>
          </a:prstGeom>
          <a:noFill/>
        </p:spPr>
        <p:txBody>
          <a:bodyPr wrap="square" lIns="0" rIns="0" tIns="0" bIns="0" anchor="ctr">
            <a:noAutofit/>
          </a:bodyPr>
          <a:lstStyle/>
          <a:p>
            <a:pPr algn="l">
              <a:spcAft>
                <a:spcPts val="0"/>
              </a:spcAft>
            </a:pPr>
            <a:r>
              <a:rPr sz="1300" b="1" i="0">
                <a:solidFill>
                  <a:srgbClr val="FFFFFF"/>
                </a:solidFill>
                <a:latin typeface="Calibri"/>
              </a:rPr>
              <a:t>Practice activities</a:t>
            </a:r>
          </a:p>
        </p:txBody>
      </p:sp>
      <p:sp>
        <p:nvSpPr>
          <p:cNvPr id="30" name="Rounded Rectangle 29"/>
          <p:cNvSpPr/>
          <p:nvPr/>
        </p:nvSpPr>
        <p:spPr>
          <a:xfrm>
            <a:off x="9875520" y="3877056"/>
            <a:ext cx="1874519" cy="566928"/>
          </a:xfrm>
          <a:prstGeom prst="roundRect">
            <a:avLst>
              <a:gd name="adj" fmla="val 18000"/>
            </a:avLst>
          </a:prstGeom>
          <a:solidFill>
            <a:srgbClr val="173258"/>
          </a:solidFill>
          <a:ln w="12700">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003536" y="4059935"/>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305288" y="3877056"/>
            <a:ext cx="1417320" cy="566928"/>
          </a:xfrm>
          <a:prstGeom prst="rect">
            <a:avLst/>
          </a:prstGeom>
          <a:noFill/>
        </p:spPr>
        <p:txBody>
          <a:bodyPr wrap="square" lIns="0" rIns="0" tIns="0" bIns="0" anchor="ctr">
            <a:noAutofit/>
          </a:bodyPr>
          <a:lstStyle/>
          <a:p>
            <a:pPr algn="l">
              <a:spcAft>
                <a:spcPts val="0"/>
              </a:spcAft>
            </a:pPr>
            <a:r>
              <a:rPr sz="1300" b="1" i="0">
                <a:solidFill>
                  <a:srgbClr val="FFFFFF"/>
                </a:solidFill>
                <a:latin typeface="Calibri"/>
              </a:rPr>
              <a:t>Quiz and answers</a:t>
            </a:r>
          </a:p>
        </p:txBody>
      </p:sp>
      <p:sp>
        <p:nvSpPr>
          <p:cNvPr id="33" name="TextBox 32"/>
          <p:cNvSpPr txBox="1"/>
          <p:nvPr/>
        </p:nvSpPr>
        <p:spPr>
          <a:xfrm>
            <a:off x="9875520" y="4617720"/>
            <a:ext cx="1874519" cy="274320"/>
          </a:xfrm>
          <a:prstGeom prst="rect">
            <a:avLst/>
          </a:prstGeom>
          <a:noFill/>
        </p:spPr>
        <p:txBody>
          <a:bodyPr wrap="square" lIns="0" rIns="0" tIns="0" bIns="0" anchor="t">
            <a:noAutofit/>
          </a:bodyPr>
          <a:lstStyle/>
          <a:p>
            <a:pPr algn="ctr">
              <a:spcAft>
                <a:spcPts val="0"/>
              </a:spcAft>
            </a:pPr>
            <a:r>
              <a:rPr sz="1200" b="0" i="0">
                <a:solidFill>
                  <a:srgbClr val="C9D6EA"/>
                </a:solidFill>
                <a:latin typeface="Calibri"/>
              </a:rPr>
              <a:t>Structured mini-course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74320"/>
          </a:xfrm>
          <a:prstGeom prst="rect">
            <a:avLst/>
          </a:prstGeom>
          <a:noFill/>
        </p:spPr>
        <p:txBody>
          <a:bodyPr wrap="square" lIns="0" rIns="0" tIns="0" bIns="0" anchor="t">
            <a:noAutofit/>
          </a:bodyPr>
          <a:lstStyle/>
          <a:p>
            <a:pPr algn="l">
              <a:spcAft>
                <a:spcPts val="0"/>
              </a:spcAft>
            </a:pPr>
            <a:r>
              <a:rPr sz="1300" b="1" i="0">
                <a:solidFill>
                  <a:srgbClr val="047857"/>
                </a:solidFill>
                <a:latin typeface="Calibri"/>
              </a:rPr>
              <a:t>PROBLEM STATEMENT</a:t>
            </a:r>
          </a:p>
        </p:txBody>
      </p:sp>
      <p:sp>
        <p:nvSpPr>
          <p:cNvPr id="3" name="TextBox 2"/>
          <p:cNvSpPr txBox="1"/>
          <p:nvPr/>
        </p:nvSpPr>
        <p:spPr>
          <a:xfrm>
            <a:off x="548640" y="603504"/>
            <a:ext cx="11064240" cy="640080"/>
          </a:xfrm>
          <a:prstGeom prst="rect">
            <a:avLst/>
          </a:prstGeom>
          <a:noFill/>
        </p:spPr>
        <p:txBody>
          <a:bodyPr wrap="square" lIns="0" rIns="0" tIns="0" bIns="0" anchor="t">
            <a:noAutofit/>
          </a:bodyPr>
          <a:lstStyle/>
          <a:p>
            <a:pPr algn="l">
              <a:spcAft>
                <a:spcPts val="0"/>
              </a:spcAft>
            </a:pPr>
            <a:r>
              <a:rPr sz="3400" b="1" i="0">
                <a:solidFill>
                  <a:srgbClr val="0B1F3A"/>
                </a:solidFill>
                <a:latin typeface="Calibri"/>
              </a:rPr>
              <a:t>Textbooks are rich in content, but not ready to teach</a:t>
            </a:r>
          </a:p>
        </p:txBody>
      </p:sp>
      <p:sp>
        <p:nvSpPr>
          <p:cNvPr id="4" name="TextBox 3"/>
          <p:cNvSpPr txBox="1"/>
          <p:nvPr/>
        </p:nvSpPr>
        <p:spPr>
          <a:xfrm>
            <a:off x="548640" y="1243584"/>
            <a:ext cx="11064240" cy="365760"/>
          </a:xfrm>
          <a:prstGeom prst="rect">
            <a:avLst/>
          </a:prstGeom>
          <a:noFill/>
        </p:spPr>
        <p:txBody>
          <a:bodyPr wrap="square" lIns="0" rIns="0" tIns="0" bIns="0" anchor="t">
            <a:noAutofit/>
          </a:bodyPr>
          <a:lstStyle/>
          <a:p>
            <a:pPr algn="l">
              <a:spcAft>
                <a:spcPts val="0"/>
              </a:spcAft>
            </a:pPr>
            <a:r>
              <a:rPr sz="1600" b="0" i="0">
                <a:solidFill>
                  <a:srgbClr val="5B677A"/>
                </a:solidFill>
                <a:latin typeface="Calibri"/>
              </a:rPr>
              <a:t>Teachers still convert chapters into lessons, activities and assessments by hand.</a:t>
            </a:r>
          </a:p>
        </p:txBody>
      </p:sp>
      <p:sp>
        <p:nvSpPr>
          <p:cNvPr id="5" name="Rounded Rectangle 4"/>
          <p:cNvSpPr/>
          <p:nvPr/>
        </p:nvSpPr>
        <p:spPr>
          <a:xfrm>
            <a:off x="548640" y="1783080"/>
            <a:ext cx="3246120" cy="1737360"/>
          </a:xfrm>
          <a:prstGeom prst="roundRect">
            <a:avLst>
              <a:gd name="adj" fmla="val 10000"/>
            </a:avLst>
          </a:prstGeom>
          <a:solidFill>
            <a:srgbClr val="F2F5F9"/>
          </a:solidFill>
          <a:ln w="1587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984248"/>
            <a:ext cx="2697479" cy="502920"/>
          </a:xfrm>
          <a:prstGeom prst="rect">
            <a:avLst/>
          </a:prstGeom>
          <a:noFill/>
        </p:spPr>
        <p:txBody>
          <a:bodyPr wrap="square" lIns="0" rIns="0" tIns="0" bIns="0" anchor="b">
            <a:noAutofit/>
          </a:bodyPr>
          <a:lstStyle/>
          <a:p>
            <a:pPr algn="l">
              <a:spcAft>
                <a:spcPts val="0"/>
              </a:spcAft>
            </a:pPr>
            <a:r>
              <a:rPr sz="1500" b="1" i="0">
                <a:solidFill>
                  <a:srgbClr val="0B1F3A"/>
                </a:solidFill>
                <a:latin typeface="Calibri"/>
              </a:rPr>
              <a:t>EXISTING TEXTBOOK</a:t>
            </a:r>
          </a:p>
        </p:txBody>
      </p:sp>
      <p:sp>
        <p:nvSpPr>
          <p:cNvPr id="7" name="TextBox 6"/>
          <p:cNvSpPr txBox="1"/>
          <p:nvPr/>
        </p:nvSpPr>
        <p:spPr>
          <a:xfrm>
            <a:off x="822959" y="2606040"/>
            <a:ext cx="2697479" cy="822960"/>
          </a:xfrm>
          <a:prstGeom prst="rect">
            <a:avLst/>
          </a:prstGeom>
          <a:noFill/>
        </p:spPr>
        <p:txBody>
          <a:bodyPr wrap="square" lIns="0" rIns="0" tIns="0" bIns="0" anchor="t">
            <a:noAutofit/>
          </a:bodyPr>
          <a:lstStyle/>
          <a:p>
            <a:pPr algn="l">
              <a:spcAft>
                <a:spcPts val="0"/>
              </a:spcAft>
            </a:pPr>
            <a:r>
              <a:rPr sz="1600" b="0" i="0">
                <a:solidFill>
                  <a:srgbClr val="1E293B"/>
                </a:solidFill>
                <a:latin typeface="Calibri"/>
              </a:rPr>
              <a:t>Chapters and pages of dense source material</a:t>
            </a:r>
          </a:p>
        </p:txBody>
      </p:sp>
      <p:sp>
        <p:nvSpPr>
          <p:cNvPr id="8" name="Rounded Rectangle 7"/>
          <p:cNvSpPr/>
          <p:nvPr/>
        </p:nvSpPr>
        <p:spPr>
          <a:xfrm>
            <a:off x="4434840" y="1783080"/>
            <a:ext cx="3291840" cy="1737360"/>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9159" y="1984248"/>
            <a:ext cx="2743200" cy="502920"/>
          </a:xfrm>
          <a:prstGeom prst="rect">
            <a:avLst/>
          </a:prstGeom>
          <a:noFill/>
        </p:spPr>
        <p:txBody>
          <a:bodyPr wrap="square" lIns="0" rIns="0" tIns="0" bIns="0" anchor="b">
            <a:noAutofit/>
          </a:bodyPr>
          <a:lstStyle/>
          <a:p>
            <a:pPr algn="l">
              <a:spcAft>
                <a:spcPts val="0"/>
              </a:spcAft>
            </a:pPr>
            <a:r>
              <a:rPr sz="1500" b="1" i="0">
                <a:solidFill>
                  <a:srgbClr val="10B981"/>
                </a:solidFill>
                <a:latin typeface="Calibri"/>
              </a:rPr>
              <a:t>MANUAL PREPARATION</a:t>
            </a:r>
          </a:p>
        </p:txBody>
      </p:sp>
      <p:sp>
        <p:nvSpPr>
          <p:cNvPr id="10" name="TextBox 9"/>
          <p:cNvSpPr txBox="1"/>
          <p:nvPr/>
        </p:nvSpPr>
        <p:spPr>
          <a:xfrm>
            <a:off x="4709159" y="2606040"/>
            <a:ext cx="2743200" cy="822960"/>
          </a:xfrm>
          <a:prstGeom prst="rect">
            <a:avLst/>
          </a:prstGeom>
          <a:noFill/>
        </p:spPr>
        <p:txBody>
          <a:bodyPr wrap="square" lIns="0" rIns="0" tIns="0" bIns="0" anchor="t">
            <a:noAutofit/>
          </a:bodyPr>
          <a:lstStyle/>
          <a:p>
            <a:pPr algn="l">
              <a:spcAft>
                <a:spcPts val="0"/>
              </a:spcAft>
            </a:pPr>
            <a:r>
              <a:rPr sz="1600" b="0" i="0">
                <a:solidFill>
                  <a:srgbClr val="FFFFFF"/>
                </a:solidFill>
                <a:latin typeface="Calibri"/>
              </a:rPr>
              <a:t>Objectives, lesson order, examples, exercises, quizzes and source checks</a:t>
            </a:r>
          </a:p>
        </p:txBody>
      </p:sp>
      <p:sp>
        <p:nvSpPr>
          <p:cNvPr id="11" name="Rounded Rectangle 10"/>
          <p:cNvSpPr/>
          <p:nvPr/>
        </p:nvSpPr>
        <p:spPr>
          <a:xfrm>
            <a:off x="8366760" y="1783080"/>
            <a:ext cx="3273552" cy="1737360"/>
          </a:xfrm>
          <a:prstGeom prst="roundRect">
            <a:avLst>
              <a:gd name="adj" fmla="val 10000"/>
            </a:avLst>
          </a:prstGeom>
          <a:solidFill>
            <a:srgbClr val="E6F6E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1984248"/>
            <a:ext cx="2724912" cy="502920"/>
          </a:xfrm>
          <a:prstGeom prst="rect">
            <a:avLst/>
          </a:prstGeom>
          <a:noFill/>
        </p:spPr>
        <p:txBody>
          <a:bodyPr wrap="square" lIns="0" rIns="0" tIns="0" bIns="0" anchor="b">
            <a:noAutofit/>
          </a:bodyPr>
          <a:lstStyle/>
          <a:p>
            <a:pPr algn="l">
              <a:spcAft>
                <a:spcPts val="0"/>
              </a:spcAft>
            </a:pPr>
            <a:r>
              <a:rPr sz="1500" b="1" i="0">
                <a:solidFill>
                  <a:srgbClr val="047857"/>
                </a:solidFill>
                <a:latin typeface="Calibri"/>
              </a:rPr>
              <a:t>LESSONS, ACTIVITIES, ASSESSMENTS</a:t>
            </a:r>
          </a:p>
        </p:txBody>
      </p:sp>
      <p:sp>
        <p:nvSpPr>
          <p:cNvPr id="13" name="TextBox 12"/>
          <p:cNvSpPr txBox="1"/>
          <p:nvPr/>
        </p:nvSpPr>
        <p:spPr>
          <a:xfrm>
            <a:off x="8641080" y="2606040"/>
            <a:ext cx="2724912" cy="822960"/>
          </a:xfrm>
          <a:prstGeom prst="rect">
            <a:avLst/>
          </a:prstGeom>
          <a:noFill/>
        </p:spPr>
        <p:txBody>
          <a:bodyPr wrap="square" lIns="0" rIns="0" tIns="0" bIns="0" anchor="t">
            <a:noAutofit/>
          </a:bodyPr>
          <a:lstStyle/>
          <a:p>
            <a:pPr algn="l">
              <a:spcAft>
                <a:spcPts val="0"/>
              </a:spcAft>
            </a:pPr>
            <a:r>
              <a:rPr sz="1600" b="0" i="0">
                <a:solidFill>
                  <a:srgbClr val="1E293B"/>
                </a:solidFill>
                <a:latin typeface="Calibri"/>
              </a:rPr>
              <a:t>Organized teaching resources ready for the classroom</a:t>
            </a:r>
          </a:p>
        </p:txBody>
      </p:sp>
      <p:sp>
        <p:nvSpPr>
          <p:cNvPr id="14" name="Right Arrow 13"/>
          <p:cNvSpPr/>
          <p:nvPr/>
        </p:nvSpPr>
        <p:spPr>
          <a:xfrm>
            <a:off x="3931920" y="2487168"/>
            <a:ext cx="365760" cy="329184"/>
          </a:xfrm>
          <a:prstGeom prst="rightArrow">
            <a:avLst/>
          </a:prstGeom>
          <a:solidFill>
            <a:srgbClr val="5B6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7863840" y="2487168"/>
            <a:ext cx="365760" cy="329184"/>
          </a:xfrm>
          <a:prstGeom prst="rightArrow">
            <a:avLst/>
          </a:prstGeom>
          <a:solidFill>
            <a:srgbClr val="5B6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794760"/>
            <a:ext cx="3657600" cy="2377440"/>
          </a:xfrm>
          <a:prstGeom prst="roundRect">
            <a:avLst>
              <a:gd name="adj" fmla="val 10000"/>
            </a:avLst>
          </a:prstGeom>
          <a:solidFill>
            <a:srgbClr val="FFFFFF"/>
          </a:solidFill>
          <a:ln w="1587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023360"/>
            <a:ext cx="3200400" cy="365760"/>
          </a:xfrm>
          <a:prstGeom prst="rect">
            <a:avLst/>
          </a:prstGeom>
          <a:noFill/>
        </p:spPr>
        <p:txBody>
          <a:bodyPr wrap="square" lIns="0" rIns="0" tIns="0" bIns="0" anchor="t">
            <a:noAutofit/>
          </a:bodyPr>
          <a:lstStyle/>
          <a:p>
            <a:pPr algn="l">
              <a:spcAft>
                <a:spcPts val="0"/>
              </a:spcAft>
            </a:pPr>
            <a:r>
              <a:rPr sz="1800" b="1" i="0">
                <a:solidFill>
                  <a:srgbClr val="0B1F3A"/>
                </a:solidFill>
                <a:latin typeface="Calibri"/>
              </a:rPr>
              <a:t>Who faces this</a:t>
            </a:r>
          </a:p>
        </p:txBody>
      </p:sp>
      <p:sp>
        <p:nvSpPr>
          <p:cNvPr id="18" name="Oval 17"/>
          <p:cNvSpPr/>
          <p:nvPr/>
        </p:nvSpPr>
        <p:spPr>
          <a:xfrm>
            <a:off x="827531" y="4546092"/>
            <a:ext cx="100584" cy="100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0704" y="4480560"/>
            <a:ext cx="2962656" cy="329184"/>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School teachers</a:t>
            </a:r>
          </a:p>
        </p:txBody>
      </p:sp>
      <p:sp>
        <p:nvSpPr>
          <p:cNvPr id="20" name="Oval 19"/>
          <p:cNvSpPr/>
          <p:nvPr/>
        </p:nvSpPr>
        <p:spPr>
          <a:xfrm>
            <a:off x="827531" y="4875276"/>
            <a:ext cx="100584" cy="100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0704" y="4809744"/>
            <a:ext cx="2962656" cy="329184"/>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University instructors</a:t>
            </a:r>
          </a:p>
        </p:txBody>
      </p:sp>
      <p:sp>
        <p:nvSpPr>
          <p:cNvPr id="22" name="Oval 21"/>
          <p:cNvSpPr/>
          <p:nvPr/>
        </p:nvSpPr>
        <p:spPr>
          <a:xfrm>
            <a:off x="827531" y="5204460"/>
            <a:ext cx="100584" cy="100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0704" y="5138928"/>
            <a:ext cx="2962656" cy="329184"/>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Tutors and independent educators</a:t>
            </a:r>
          </a:p>
        </p:txBody>
      </p:sp>
      <p:sp>
        <p:nvSpPr>
          <p:cNvPr id="24" name="Oval 23"/>
          <p:cNvSpPr/>
          <p:nvPr/>
        </p:nvSpPr>
        <p:spPr>
          <a:xfrm>
            <a:off x="827531" y="5533644"/>
            <a:ext cx="100584" cy="100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0704" y="5468112"/>
            <a:ext cx="2962656" cy="329184"/>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Institutions digitizing resources</a:t>
            </a:r>
          </a:p>
        </p:txBody>
      </p:sp>
      <p:sp>
        <p:nvSpPr>
          <p:cNvPr id="26" name="TextBox 25"/>
          <p:cNvSpPr txBox="1"/>
          <p:nvPr/>
        </p:nvSpPr>
        <p:spPr>
          <a:xfrm>
            <a:off x="822960" y="5806440"/>
            <a:ext cx="3200400" cy="274320"/>
          </a:xfrm>
          <a:prstGeom prst="rect">
            <a:avLst/>
          </a:prstGeom>
          <a:noFill/>
        </p:spPr>
        <p:txBody>
          <a:bodyPr wrap="square" lIns="0" rIns="0" tIns="0" bIns="0" anchor="t">
            <a:noAutofit/>
          </a:bodyPr>
          <a:lstStyle/>
          <a:p>
            <a:pPr algn="l">
              <a:spcAft>
                <a:spcPts val="0"/>
              </a:spcAft>
            </a:pPr>
            <a:r>
              <a:rPr sz="1200" b="0" i="1">
                <a:solidFill>
                  <a:srgbClr val="5B677A"/>
                </a:solidFill>
                <a:latin typeface="Calibri"/>
              </a:rPr>
              <a:t>Students benefit as secondary users.</a:t>
            </a:r>
          </a:p>
        </p:txBody>
      </p:sp>
      <p:sp>
        <p:nvSpPr>
          <p:cNvPr id="27" name="Rounded Rectangle 26"/>
          <p:cNvSpPr/>
          <p:nvPr/>
        </p:nvSpPr>
        <p:spPr>
          <a:xfrm>
            <a:off x="4434840" y="3794760"/>
            <a:ext cx="3611880" cy="2377440"/>
          </a:xfrm>
          <a:prstGeom prst="roundRect">
            <a:avLst>
              <a:gd name="adj" fmla="val 10000"/>
            </a:avLst>
          </a:prstGeom>
          <a:solidFill>
            <a:srgbClr val="FFFFFF"/>
          </a:solidFill>
          <a:ln w="1587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60" y="4023360"/>
            <a:ext cx="3108960" cy="365760"/>
          </a:xfrm>
          <a:prstGeom prst="rect">
            <a:avLst/>
          </a:prstGeom>
          <a:noFill/>
        </p:spPr>
        <p:txBody>
          <a:bodyPr wrap="square" lIns="0" rIns="0" tIns="0" bIns="0" anchor="t">
            <a:noAutofit/>
          </a:bodyPr>
          <a:lstStyle/>
          <a:p>
            <a:pPr algn="l">
              <a:spcAft>
                <a:spcPts val="0"/>
              </a:spcAft>
            </a:pPr>
            <a:r>
              <a:rPr sz="1800" b="1" i="0">
                <a:solidFill>
                  <a:srgbClr val="0B1F3A"/>
                </a:solidFill>
                <a:latin typeface="Calibri"/>
              </a:rPr>
              <a:t>Why it matters</a:t>
            </a:r>
          </a:p>
        </p:txBody>
      </p:sp>
      <p:sp>
        <p:nvSpPr>
          <p:cNvPr id="29" name="Oval 28"/>
          <p:cNvSpPr/>
          <p:nvPr/>
        </p:nvSpPr>
        <p:spPr>
          <a:xfrm>
            <a:off x="4713732" y="4546092"/>
            <a:ext cx="100584" cy="100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46904" y="4480560"/>
            <a:ext cx="2916936" cy="548640"/>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Time spent restructuring content is time not spent teaching</a:t>
            </a:r>
          </a:p>
        </p:txBody>
      </p:sp>
      <p:sp>
        <p:nvSpPr>
          <p:cNvPr id="31" name="Oval 30"/>
          <p:cNvSpPr/>
          <p:nvPr/>
        </p:nvSpPr>
        <p:spPr>
          <a:xfrm>
            <a:off x="4713732" y="5094732"/>
            <a:ext cx="100584" cy="100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46904" y="5029200"/>
            <a:ext cx="2916936" cy="548640"/>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Summaries shorten text but do not build a course</a:t>
            </a:r>
          </a:p>
        </p:txBody>
      </p:sp>
      <p:sp>
        <p:nvSpPr>
          <p:cNvPr id="33" name="Oval 32"/>
          <p:cNvSpPr/>
          <p:nvPr/>
        </p:nvSpPr>
        <p:spPr>
          <a:xfrm>
            <a:off x="4713732" y="5643372"/>
            <a:ext cx="100584" cy="100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46904" y="5577840"/>
            <a:ext cx="2916936" cy="548640"/>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Materials must stay faithful to the source</a:t>
            </a:r>
          </a:p>
        </p:txBody>
      </p:sp>
      <p:sp>
        <p:nvSpPr>
          <p:cNvPr id="35" name="Rounded Rectangle 34"/>
          <p:cNvSpPr/>
          <p:nvPr/>
        </p:nvSpPr>
        <p:spPr>
          <a:xfrm>
            <a:off x="8275320" y="3794760"/>
            <a:ext cx="3364992" cy="2377440"/>
          </a:xfrm>
          <a:prstGeom prst="roundRect">
            <a:avLst>
              <a:gd name="adj" fmla="val 10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49640" y="4069080"/>
            <a:ext cx="2834640" cy="320040"/>
          </a:xfrm>
          <a:prstGeom prst="rect">
            <a:avLst/>
          </a:prstGeom>
          <a:noFill/>
        </p:spPr>
        <p:txBody>
          <a:bodyPr wrap="square" lIns="0" rIns="0" tIns="0" bIns="0" anchor="t">
            <a:noAutofit/>
          </a:bodyPr>
          <a:lstStyle/>
          <a:p>
            <a:pPr algn="l">
              <a:spcAft>
                <a:spcPts val="0"/>
              </a:spcAft>
            </a:pPr>
            <a:r>
              <a:rPr sz="1400" b="1" i="0">
                <a:solidFill>
                  <a:srgbClr val="E6F6EF"/>
                </a:solidFill>
                <a:latin typeface="Calibri"/>
              </a:rPr>
              <a:t>THE OPPORTUNITY</a:t>
            </a:r>
          </a:p>
        </p:txBody>
      </p:sp>
      <p:sp>
        <p:nvSpPr>
          <p:cNvPr id="37" name="TextBox 36"/>
          <p:cNvSpPr txBox="1"/>
          <p:nvPr/>
        </p:nvSpPr>
        <p:spPr>
          <a:xfrm>
            <a:off x="8549640" y="4480560"/>
            <a:ext cx="2834640" cy="1554480"/>
          </a:xfrm>
          <a:prstGeom prst="rect">
            <a:avLst/>
          </a:prstGeom>
          <a:noFill/>
        </p:spPr>
        <p:txBody>
          <a:bodyPr wrap="square" lIns="0" rIns="0" tIns="0" bIns="0" anchor="t">
            <a:noAutofit/>
          </a:bodyPr>
          <a:lstStyle/>
          <a:p>
            <a:pPr algn="l">
              <a:spcAft>
                <a:spcPts val="0"/>
              </a:spcAft>
            </a:pPr>
            <a:r>
              <a:rPr sz="2000" b="1" i="0">
                <a:solidFill>
                  <a:srgbClr val="FFFFFF"/>
                </a:solidFill>
                <a:latin typeface="Calibri"/>
              </a:rPr>
              <a:t>Let AI draft the structure. Let teachers review, correct and approve it.</a:t>
            </a:r>
          </a:p>
        </p:txBody>
      </p:sp>
      <p:sp>
        <p:nvSpPr>
          <p:cNvPr id="38" name="TextBox 37"/>
          <p:cNvSpPr txBox="1"/>
          <p:nvPr/>
        </p:nvSpPr>
        <p:spPr>
          <a:xfrm>
            <a:off x="548640" y="6428232"/>
            <a:ext cx="5486400" cy="274320"/>
          </a:xfrm>
          <a:prstGeom prst="rect">
            <a:avLst/>
          </a:prstGeom>
          <a:noFill/>
        </p:spPr>
        <p:txBody>
          <a:bodyPr wrap="square" lIns="0" rIns="0" tIns="0" bIns="0" anchor="t">
            <a:noAutofit/>
          </a:bodyPr>
          <a:lstStyle/>
          <a:p>
            <a:pPr algn="l">
              <a:spcAft>
                <a:spcPts val="0"/>
              </a:spcAft>
            </a:pPr>
            <a:r>
              <a:rPr sz="1000" b="0" i="0">
                <a:solidFill>
                  <a:srgbClr val="5B677A"/>
                </a:solidFill>
                <a:latin typeface="Calibri"/>
              </a:rPr>
              <a:t>Project Axiora  |  CourseForge AI  |  Team KayCode</a:t>
            </a:r>
          </a:p>
        </p:txBody>
      </p:sp>
      <p:sp>
        <p:nvSpPr>
          <p:cNvPr id="39" name="TextBox 38"/>
          <p:cNvSpPr txBox="1"/>
          <p:nvPr/>
        </p:nvSpPr>
        <p:spPr>
          <a:xfrm>
            <a:off x="9811512" y="6428232"/>
            <a:ext cx="1828800" cy="274320"/>
          </a:xfrm>
          <a:prstGeom prst="rect">
            <a:avLst/>
          </a:prstGeom>
          <a:noFill/>
        </p:spPr>
        <p:txBody>
          <a:bodyPr wrap="square" lIns="0" rIns="0" tIns="0" bIns="0" anchor="t">
            <a:noAutofit/>
          </a:bodyPr>
          <a:lstStyle/>
          <a:p>
            <a:pPr algn="r">
              <a:spcAft>
                <a:spcPts val="0"/>
              </a:spcAft>
            </a:pPr>
            <a:r>
              <a:rPr sz="1000" b="0" i="0">
                <a:solidFill>
                  <a:srgbClr val="5B677A"/>
                </a:solidFill>
                <a:latin typeface="Calibri"/>
              </a:rP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74320"/>
          </a:xfrm>
          <a:prstGeom prst="rect">
            <a:avLst/>
          </a:prstGeom>
          <a:noFill/>
        </p:spPr>
        <p:txBody>
          <a:bodyPr wrap="square" lIns="0" rIns="0" tIns="0" bIns="0" anchor="t">
            <a:noAutofit/>
          </a:bodyPr>
          <a:lstStyle/>
          <a:p>
            <a:pPr algn="l">
              <a:spcAft>
                <a:spcPts val="0"/>
              </a:spcAft>
            </a:pPr>
            <a:r>
              <a:rPr sz="1300" b="1" i="0">
                <a:solidFill>
                  <a:srgbClr val="047857"/>
                </a:solidFill>
                <a:latin typeface="Calibri"/>
              </a:rPr>
              <a:t>PROPOSED SOLUTION</a:t>
            </a:r>
          </a:p>
        </p:txBody>
      </p:sp>
      <p:sp>
        <p:nvSpPr>
          <p:cNvPr id="3" name="TextBox 2"/>
          <p:cNvSpPr txBox="1"/>
          <p:nvPr/>
        </p:nvSpPr>
        <p:spPr>
          <a:xfrm>
            <a:off x="548640" y="603504"/>
            <a:ext cx="11064240" cy="640080"/>
          </a:xfrm>
          <a:prstGeom prst="rect">
            <a:avLst/>
          </a:prstGeom>
          <a:noFill/>
        </p:spPr>
        <p:txBody>
          <a:bodyPr wrap="square" lIns="0" rIns="0" tIns="0" bIns="0" anchor="t">
            <a:noAutofit/>
          </a:bodyPr>
          <a:lstStyle/>
          <a:p>
            <a:pPr algn="l">
              <a:spcAft>
                <a:spcPts val="0"/>
              </a:spcAft>
            </a:pPr>
            <a:r>
              <a:rPr sz="3400" b="1" i="0">
                <a:solidFill>
                  <a:srgbClr val="0B1F3A"/>
                </a:solidFill>
                <a:latin typeface="Calibri"/>
              </a:rPr>
              <a:t>CourseForge AI turns a chapter into a mini-course</a:t>
            </a:r>
          </a:p>
        </p:txBody>
      </p:sp>
      <p:sp>
        <p:nvSpPr>
          <p:cNvPr id="4" name="TextBox 3"/>
          <p:cNvSpPr txBox="1"/>
          <p:nvPr/>
        </p:nvSpPr>
        <p:spPr>
          <a:xfrm>
            <a:off x="548640" y="1243584"/>
            <a:ext cx="11064240" cy="365760"/>
          </a:xfrm>
          <a:prstGeom prst="rect">
            <a:avLst/>
          </a:prstGeom>
          <a:noFill/>
        </p:spPr>
        <p:txBody>
          <a:bodyPr wrap="square" lIns="0" rIns="0" tIns="0" bIns="0" anchor="t">
            <a:noAutofit/>
          </a:bodyPr>
          <a:lstStyle/>
          <a:p>
            <a:pPr algn="l">
              <a:spcAft>
                <a:spcPts val="0"/>
              </a:spcAft>
            </a:pPr>
            <a:r>
              <a:rPr sz="1600" b="0" i="0">
                <a:solidFill>
                  <a:srgbClr val="5B677A"/>
                </a:solidFill>
                <a:latin typeface="Calibri"/>
              </a:rPr>
              <a:t>A guided workflow from textbook PDF to a course the teacher reviews before use.</a:t>
            </a:r>
          </a:p>
        </p:txBody>
      </p:sp>
      <p:sp>
        <p:nvSpPr>
          <p:cNvPr id="5" name="Rounded Rectangle 4"/>
          <p:cNvSpPr/>
          <p:nvPr/>
        </p:nvSpPr>
        <p:spPr>
          <a:xfrm>
            <a:off x="548640" y="1783080"/>
            <a:ext cx="2487168" cy="1188720"/>
          </a:xfrm>
          <a:prstGeom prst="roundRect">
            <a:avLst>
              <a:gd name="adj" fmla="val 10000"/>
            </a:avLst>
          </a:prstGeom>
          <a:solidFill>
            <a:srgbClr val="F2F5F9"/>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04088" y="2148840"/>
            <a:ext cx="457200" cy="4572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600" b="1" i="0">
                <a:solidFill>
                  <a:srgbClr val="FFFFFF"/>
                </a:solidFill>
                <a:latin typeface="Calibri"/>
              </a:rPr>
              <a:t>1</a:t>
            </a:r>
          </a:p>
        </p:txBody>
      </p:sp>
      <p:sp>
        <p:nvSpPr>
          <p:cNvPr id="7" name="TextBox 6"/>
          <p:cNvSpPr txBox="1"/>
          <p:nvPr/>
        </p:nvSpPr>
        <p:spPr>
          <a:xfrm>
            <a:off x="1298448" y="1892807"/>
            <a:ext cx="1618488" cy="969264"/>
          </a:xfrm>
          <a:prstGeom prst="rect">
            <a:avLst/>
          </a:prstGeom>
          <a:noFill/>
        </p:spPr>
        <p:txBody>
          <a:bodyPr wrap="square" lIns="0" rIns="0" tIns="0" bIns="0" anchor="ctr">
            <a:noAutofit/>
          </a:bodyPr>
          <a:lstStyle/>
          <a:p>
            <a:pPr algn="l">
              <a:spcAft>
                <a:spcPts val="300"/>
              </a:spcAft>
            </a:pPr>
            <a:r>
              <a:rPr sz="1600" b="1" i="0">
                <a:solidFill>
                  <a:srgbClr val="0B1F3A"/>
                </a:solidFill>
                <a:latin typeface="Calibri"/>
              </a:rPr>
              <a:t>Upload textbook PDF</a:t>
            </a:r>
          </a:p>
          <a:p>
            <a:pPr algn="l">
              <a:spcAft>
                <a:spcPts val="0"/>
              </a:spcAft>
            </a:pPr>
            <a:r>
              <a:rPr sz="1200" b="0" i="0">
                <a:solidFill>
                  <a:srgbClr val="5B677A"/>
                </a:solidFill>
                <a:latin typeface="Calibri"/>
              </a:rPr>
              <a:t>Text extracted with page numbers</a:t>
            </a:r>
          </a:p>
        </p:txBody>
      </p:sp>
      <p:sp>
        <p:nvSpPr>
          <p:cNvPr id="8" name="Right Arrow 7"/>
          <p:cNvSpPr/>
          <p:nvPr/>
        </p:nvSpPr>
        <p:spPr>
          <a:xfrm>
            <a:off x="3118104" y="2258568"/>
            <a:ext cx="219456" cy="23774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10712" y="1783080"/>
            <a:ext cx="2487168" cy="1188720"/>
          </a:xfrm>
          <a:prstGeom prst="roundRect">
            <a:avLst>
              <a:gd name="adj" fmla="val 10000"/>
            </a:avLst>
          </a:prstGeom>
          <a:solidFill>
            <a:srgbClr val="F2F5F9"/>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66160" y="2148840"/>
            <a:ext cx="457200" cy="4572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600" b="1" i="0">
                <a:solidFill>
                  <a:srgbClr val="FFFFFF"/>
                </a:solidFill>
                <a:latin typeface="Calibri"/>
              </a:rPr>
              <a:t>2</a:t>
            </a:r>
          </a:p>
        </p:txBody>
      </p:sp>
      <p:sp>
        <p:nvSpPr>
          <p:cNvPr id="11" name="TextBox 10"/>
          <p:cNvSpPr txBox="1"/>
          <p:nvPr/>
        </p:nvSpPr>
        <p:spPr>
          <a:xfrm>
            <a:off x="4160520" y="1892807"/>
            <a:ext cx="1618488" cy="969264"/>
          </a:xfrm>
          <a:prstGeom prst="rect">
            <a:avLst/>
          </a:prstGeom>
          <a:noFill/>
        </p:spPr>
        <p:txBody>
          <a:bodyPr wrap="square" lIns="0" rIns="0" tIns="0" bIns="0" anchor="ctr">
            <a:noAutofit/>
          </a:bodyPr>
          <a:lstStyle/>
          <a:p>
            <a:pPr algn="l">
              <a:spcAft>
                <a:spcPts val="300"/>
              </a:spcAft>
            </a:pPr>
            <a:r>
              <a:rPr sz="1600" b="1" i="0">
                <a:solidFill>
                  <a:srgbClr val="0B1F3A"/>
                </a:solidFill>
                <a:latin typeface="Calibri"/>
              </a:rPr>
              <a:t>Select chapter</a:t>
            </a:r>
          </a:p>
          <a:p>
            <a:pPr algn="l">
              <a:spcAft>
                <a:spcPts val="0"/>
              </a:spcAft>
            </a:pPr>
            <a:r>
              <a:rPr sz="1200" b="0" i="0">
                <a:solidFill>
                  <a:srgbClr val="5B677A"/>
                </a:solidFill>
                <a:latin typeface="Calibri"/>
              </a:rPr>
              <a:t>Teacher picks the section to teach</a:t>
            </a:r>
          </a:p>
        </p:txBody>
      </p:sp>
      <p:sp>
        <p:nvSpPr>
          <p:cNvPr id="12" name="Right Arrow 11"/>
          <p:cNvSpPr/>
          <p:nvPr/>
        </p:nvSpPr>
        <p:spPr>
          <a:xfrm>
            <a:off x="5980176" y="2258568"/>
            <a:ext cx="219456" cy="23774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72784" y="1783080"/>
            <a:ext cx="2487168" cy="1188720"/>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28232" y="21488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600" b="1" i="0">
                <a:solidFill>
                  <a:srgbClr val="0B1F3A"/>
                </a:solidFill>
                <a:latin typeface="Calibri"/>
              </a:rPr>
              <a:t>3</a:t>
            </a:r>
          </a:p>
        </p:txBody>
      </p:sp>
      <p:sp>
        <p:nvSpPr>
          <p:cNvPr id="15" name="TextBox 14"/>
          <p:cNvSpPr txBox="1"/>
          <p:nvPr/>
        </p:nvSpPr>
        <p:spPr>
          <a:xfrm>
            <a:off x="7022592" y="1892807"/>
            <a:ext cx="1618488" cy="969264"/>
          </a:xfrm>
          <a:prstGeom prst="rect">
            <a:avLst/>
          </a:prstGeom>
          <a:noFill/>
        </p:spPr>
        <p:txBody>
          <a:bodyPr wrap="square" lIns="0" rIns="0" tIns="0" bIns="0" anchor="ctr">
            <a:noAutofit/>
          </a:bodyPr>
          <a:lstStyle/>
          <a:p>
            <a:pPr algn="l">
              <a:spcAft>
                <a:spcPts val="0"/>
              </a:spcAft>
            </a:pPr>
            <a:r>
              <a:rPr sz="1600" b="1" i="0">
                <a:solidFill>
                  <a:srgbClr val="FFFFFF"/>
                </a:solidFill>
                <a:latin typeface="Calibri"/>
              </a:rPr>
              <a:t>Generate</a:t>
            </a:r>
          </a:p>
          <a:p>
            <a:pPr algn="l">
              <a:spcAft>
                <a:spcPts val="300"/>
              </a:spcAft>
            </a:pPr>
            <a:r>
              <a:rPr sz="1600" b="1" i="0">
                <a:solidFill>
                  <a:srgbClr val="FFFFFF"/>
                </a:solidFill>
                <a:latin typeface="Calibri"/>
              </a:rPr>
              <a:t>mini-course</a:t>
            </a:r>
          </a:p>
          <a:p>
            <a:pPr algn="l">
              <a:spcAft>
                <a:spcPts val="0"/>
              </a:spcAft>
            </a:pPr>
            <a:r>
              <a:rPr sz="1200" b="0" i="0">
                <a:solidFill>
                  <a:srgbClr val="C9D6EA"/>
                </a:solidFill>
                <a:latin typeface="Calibri"/>
              </a:rPr>
              <a:t>An LLM drafts a structured course</a:t>
            </a:r>
          </a:p>
        </p:txBody>
      </p:sp>
      <p:sp>
        <p:nvSpPr>
          <p:cNvPr id="16" name="Right Arrow 15"/>
          <p:cNvSpPr/>
          <p:nvPr/>
        </p:nvSpPr>
        <p:spPr>
          <a:xfrm>
            <a:off x="8842248" y="2258568"/>
            <a:ext cx="219456" cy="23774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34856" y="1783080"/>
            <a:ext cx="2487168" cy="1188720"/>
          </a:xfrm>
          <a:prstGeom prst="roundRect">
            <a:avLst>
              <a:gd name="adj" fmla="val 10000"/>
            </a:avLst>
          </a:prstGeom>
          <a:solidFill>
            <a:srgbClr val="F2F5F9"/>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290304" y="2148840"/>
            <a:ext cx="457200" cy="45720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600" b="1" i="0">
                <a:solidFill>
                  <a:srgbClr val="FFFFFF"/>
                </a:solidFill>
                <a:latin typeface="Calibri"/>
              </a:rPr>
              <a:t>4</a:t>
            </a:r>
          </a:p>
        </p:txBody>
      </p:sp>
      <p:sp>
        <p:nvSpPr>
          <p:cNvPr id="19" name="TextBox 18"/>
          <p:cNvSpPr txBox="1"/>
          <p:nvPr/>
        </p:nvSpPr>
        <p:spPr>
          <a:xfrm>
            <a:off x="9884664" y="1892807"/>
            <a:ext cx="1618488" cy="969264"/>
          </a:xfrm>
          <a:prstGeom prst="rect">
            <a:avLst/>
          </a:prstGeom>
          <a:noFill/>
        </p:spPr>
        <p:txBody>
          <a:bodyPr wrap="square" lIns="0" rIns="0" tIns="0" bIns="0" anchor="ctr">
            <a:noAutofit/>
          </a:bodyPr>
          <a:lstStyle/>
          <a:p>
            <a:pPr algn="l">
              <a:spcAft>
                <a:spcPts val="300"/>
              </a:spcAft>
            </a:pPr>
            <a:r>
              <a:rPr sz="1600" b="1" i="0">
                <a:solidFill>
                  <a:srgbClr val="0B1F3A"/>
                </a:solidFill>
                <a:latin typeface="Calibri"/>
              </a:rPr>
              <a:t>Review and edit</a:t>
            </a:r>
          </a:p>
          <a:p>
            <a:pPr algn="l">
              <a:spcAft>
                <a:spcPts val="0"/>
              </a:spcAft>
            </a:pPr>
            <a:r>
              <a:rPr sz="1200" b="0" i="0">
                <a:solidFill>
                  <a:srgbClr val="5B677A"/>
                </a:solidFill>
                <a:latin typeface="Calibri"/>
              </a:rPr>
              <a:t>Teacher corrects and approves</a:t>
            </a:r>
          </a:p>
        </p:txBody>
      </p:sp>
      <p:sp>
        <p:nvSpPr>
          <p:cNvPr id="20" name="TextBox 19"/>
          <p:cNvSpPr txBox="1"/>
          <p:nvPr/>
        </p:nvSpPr>
        <p:spPr>
          <a:xfrm>
            <a:off x="548640" y="3291840"/>
            <a:ext cx="6675120" cy="365760"/>
          </a:xfrm>
          <a:prstGeom prst="rect">
            <a:avLst/>
          </a:prstGeom>
          <a:noFill/>
        </p:spPr>
        <p:txBody>
          <a:bodyPr wrap="square" lIns="0" rIns="0" tIns="0" bIns="0" anchor="t">
            <a:noAutofit/>
          </a:bodyPr>
          <a:lstStyle/>
          <a:p>
            <a:pPr algn="l">
              <a:spcAft>
                <a:spcPts val="0"/>
              </a:spcAft>
            </a:pPr>
            <a:r>
              <a:rPr sz="1800" b="1" i="0">
                <a:solidFill>
                  <a:srgbClr val="0B1F3A"/>
                </a:solidFill>
                <a:latin typeface="Calibri"/>
              </a:rPr>
              <a:t>What the teacher receives</a:t>
            </a:r>
          </a:p>
        </p:txBody>
      </p:sp>
      <p:sp>
        <p:nvSpPr>
          <p:cNvPr id="21" name="Rounded Rectangle 20"/>
          <p:cNvSpPr/>
          <p:nvPr/>
        </p:nvSpPr>
        <p:spPr>
          <a:xfrm>
            <a:off x="548640" y="3749039"/>
            <a:ext cx="3246120" cy="749808"/>
          </a:xfrm>
          <a:prstGeom prst="roundRect">
            <a:avLst>
              <a:gd name="adj" fmla="val 10000"/>
            </a:avLst>
          </a:prstGeom>
          <a:solidFill>
            <a:srgbClr val="E6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04087" y="3986783"/>
            <a:ext cx="274320" cy="27432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100" b="1" i="0">
                <a:solidFill>
                  <a:srgbClr val="FFFFFF"/>
                </a:solidFill>
                <a:latin typeface="Segoe UI Symbol"/>
              </a:rPr>
              <a:t>✓</a:t>
            </a:r>
          </a:p>
        </p:txBody>
      </p:sp>
      <p:sp>
        <p:nvSpPr>
          <p:cNvPr id="23" name="TextBox 22"/>
          <p:cNvSpPr txBox="1"/>
          <p:nvPr/>
        </p:nvSpPr>
        <p:spPr>
          <a:xfrm>
            <a:off x="1097280" y="3822191"/>
            <a:ext cx="2606039" cy="603503"/>
          </a:xfrm>
          <a:prstGeom prst="rect">
            <a:avLst/>
          </a:prstGeom>
          <a:noFill/>
        </p:spPr>
        <p:txBody>
          <a:bodyPr wrap="square" lIns="0" rIns="0" tIns="0" bIns="0" anchor="ctr">
            <a:noAutofit/>
          </a:bodyPr>
          <a:lstStyle/>
          <a:p>
            <a:pPr algn="l">
              <a:spcAft>
                <a:spcPts val="100"/>
              </a:spcAft>
            </a:pPr>
            <a:r>
              <a:rPr sz="1500" b="1" i="0">
                <a:solidFill>
                  <a:srgbClr val="0B1F3A"/>
                </a:solidFill>
                <a:latin typeface="Calibri"/>
              </a:rPr>
              <a:t>Learning objectives</a:t>
            </a:r>
          </a:p>
          <a:p>
            <a:pPr algn="l">
              <a:spcAft>
                <a:spcPts val="0"/>
              </a:spcAft>
            </a:pPr>
            <a:r>
              <a:rPr sz="1200" b="0" i="0">
                <a:solidFill>
                  <a:srgbClr val="5B677A"/>
                </a:solidFill>
                <a:latin typeface="Calibri"/>
              </a:rPr>
              <a:t>Clear goals for each lesson</a:t>
            </a:r>
          </a:p>
        </p:txBody>
      </p:sp>
      <p:sp>
        <p:nvSpPr>
          <p:cNvPr id="24" name="Rounded Rectangle 23"/>
          <p:cNvSpPr/>
          <p:nvPr/>
        </p:nvSpPr>
        <p:spPr>
          <a:xfrm>
            <a:off x="3977639" y="3749039"/>
            <a:ext cx="3246120" cy="749808"/>
          </a:xfrm>
          <a:prstGeom prst="roundRect">
            <a:avLst>
              <a:gd name="adj" fmla="val 10000"/>
            </a:avLst>
          </a:prstGeom>
          <a:solidFill>
            <a:srgbClr val="E6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133087" y="3986783"/>
            <a:ext cx="274320" cy="27432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100" b="1" i="0">
                <a:solidFill>
                  <a:srgbClr val="FFFFFF"/>
                </a:solidFill>
                <a:latin typeface="Segoe UI Symbol"/>
              </a:rPr>
              <a:t>✓</a:t>
            </a:r>
          </a:p>
        </p:txBody>
      </p:sp>
      <p:sp>
        <p:nvSpPr>
          <p:cNvPr id="26" name="TextBox 25"/>
          <p:cNvSpPr txBox="1"/>
          <p:nvPr/>
        </p:nvSpPr>
        <p:spPr>
          <a:xfrm>
            <a:off x="4526279" y="3822191"/>
            <a:ext cx="2606039" cy="603503"/>
          </a:xfrm>
          <a:prstGeom prst="rect">
            <a:avLst/>
          </a:prstGeom>
          <a:noFill/>
        </p:spPr>
        <p:txBody>
          <a:bodyPr wrap="square" lIns="0" rIns="0" tIns="0" bIns="0" anchor="ctr">
            <a:noAutofit/>
          </a:bodyPr>
          <a:lstStyle/>
          <a:p>
            <a:pPr algn="l">
              <a:spcAft>
                <a:spcPts val="100"/>
              </a:spcAft>
            </a:pPr>
            <a:r>
              <a:rPr sz="1500" b="1" i="0">
                <a:solidFill>
                  <a:srgbClr val="0B1F3A"/>
                </a:solidFill>
                <a:latin typeface="Calibri"/>
              </a:rPr>
              <a:t>Structured lessons</a:t>
            </a:r>
          </a:p>
          <a:p>
            <a:pPr algn="l">
              <a:spcAft>
                <a:spcPts val="0"/>
              </a:spcAft>
            </a:pPr>
            <a:r>
              <a:rPr sz="1200" b="0" i="0">
                <a:solidFill>
                  <a:srgbClr val="5B677A"/>
                </a:solidFill>
                <a:latin typeface="Calibri"/>
              </a:rPr>
              <a:t>Explanations in a logical order</a:t>
            </a:r>
          </a:p>
        </p:txBody>
      </p:sp>
      <p:sp>
        <p:nvSpPr>
          <p:cNvPr id="27" name="Rounded Rectangle 26"/>
          <p:cNvSpPr/>
          <p:nvPr/>
        </p:nvSpPr>
        <p:spPr>
          <a:xfrm>
            <a:off x="548640" y="4590288"/>
            <a:ext cx="3246120" cy="749808"/>
          </a:xfrm>
          <a:prstGeom prst="roundRect">
            <a:avLst>
              <a:gd name="adj" fmla="val 10000"/>
            </a:avLst>
          </a:prstGeom>
          <a:solidFill>
            <a:srgbClr val="E6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04087" y="4828031"/>
            <a:ext cx="274320" cy="27432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100" b="1" i="0">
                <a:solidFill>
                  <a:srgbClr val="FFFFFF"/>
                </a:solidFill>
                <a:latin typeface="Segoe UI Symbol"/>
              </a:rPr>
              <a:t>✓</a:t>
            </a:r>
          </a:p>
        </p:txBody>
      </p:sp>
      <p:sp>
        <p:nvSpPr>
          <p:cNvPr id="29" name="TextBox 28"/>
          <p:cNvSpPr txBox="1"/>
          <p:nvPr/>
        </p:nvSpPr>
        <p:spPr>
          <a:xfrm>
            <a:off x="1097280" y="4663440"/>
            <a:ext cx="2606039" cy="603503"/>
          </a:xfrm>
          <a:prstGeom prst="rect">
            <a:avLst/>
          </a:prstGeom>
          <a:noFill/>
        </p:spPr>
        <p:txBody>
          <a:bodyPr wrap="square" lIns="0" rIns="0" tIns="0" bIns="0" anchor="ctr">
            <a:noAutofit/>
          </a:bodyPr>
          <a:lstStyle/>
          <a:p>
            <a:pPr algn="l">
              <a:spcAft>
                <a:spcPts val="100"/>
              </a:spcAft>
            </a:pPr>
            <a:r>
              <a:rPr sz="1500" b="1" i="0">
                <a:solidFill>
                  <a:srgbClr val="0B1F3A"/>
                </a:solidFill>
                <a:latin typeface="Calibri"/>
              </a:rPr>
              <a:t>Examples and practice</a:t>
            </a:r>
          </a:p>
          <a:p>
            <a:pPr algn="l">
              <a:spcAft>
                <a:spcPts val="0"/>
              </a:spcAft>
            </a:pPr>
            <a:r>
              <a:rPr sz="1200" b="0" i="0">
                <a:solidFill>
                  <a:srgbClr val="5B677A"/>
                </a:solidFill>
                <a:latin typeface="Calibri"/>
              </a:rPr>
              <a:t>Worked examples and activities</a:t>
            </a:r>
          </a:p>
        </p:txBody>
      </p:sp>
      <p:sp>
        <p:nvSpPr>
          <p:cNvPr id="30" name="Rounded Rectangle 29"/>
          <p:cNvSpPr/>
          <p:nvPr/>
        </p:nvSpPr>
        <p:spPr>
          <a:xfrm>
            <a:off x="3977639" y="4590288"/>
            <a:ext cx="3246120" cy="749808"/>
          </a:xfrm>
          <a:prstGeom prst="roundRect">
            <a:avLst>
              <a:gd name="adj" fmla="val 10000"/>
            </a:avLst>
          </a:prstGeom>
          <a:solidFill>
            <a:srgbClr val="E6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133087" y="4828031"/>
            <a:ext cx="274320" cy="27432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100" b="1" i="0">
                <a:solidFill>
                  <a:srgbClr val="FFFFFF"/>
                </a:solidFill>
                <a:latin typeface="Segoe UI Symbol"/>
              </a:rPr>
              <a:t>✓</a:t>
            </a:r>
          </a:p>
        </p:txBody>
      </p:sp>
      <p:sp>
        <p:nvSpPr>
          <p:cNvPr id="32" name="TextBox 31"/>
          <p:cNvSpPr txBox="1"/>
          <p:nvPr/>
        </p:nvSpPr>
        <p:spPr>
          <a:xfrm>
            <a:off x="4526279" y="4663440"/>
            <a:ext cx="2606039" cy="603503"/>
          </a:xfrm>
          <a:prstGeom prst="rect">
            <a:avLst/>
          </a:prstGeom>
          <a:noFill/>
        </p:spPr>
        <p:txBody>
          <a:bodyPr wrap="square" lIns="0" rIns="0" tIns="0" bIns="0" anchor="ctr">
            <a:noAutofit/>
          </a:bodyPr>
          <a:lstStyle/>
          <a:p>
            <a:pPr algn="l">
              <a:spcAft>
                <a:spcPts val="100"/>
              </a:spcAft>
            </a:pPr>
            <a:r>
              <a:rPr sz="1500" b="1" i="0">
                <a:solidFill>
                  <a:srgbClr val="0B1F3A"/>
                </a:solidFill>
                <a:latin typeface="Calibri"/>
              </a:rPr>
              <a:t>Quizzes with explanations</a:t>
            </a:r>
          </a:p>
          <a:p>
            <a:pPr algn="l">
              <a:spcAft>
                <a:spcPts val="0"/>
              </a:spcAft>
            </a:pPr>
            <a:r>
              <a:rPr sz="1200" b="0" i="0">
                <a:solidFill>
                  <a:srgbClr val="5B677A"/>
                </a:solidFill>
                <a:latin typeface="Calibri"/>
              </a:rPr>
              <a:t>Answers with reasoning</a:t>
            </a:r>
          </a:p>
        </p:txBody>
      </p:sp>
      <p:sp>
        <p:nvSpPr>
          <p:cNvPr id="33" name="Rounded Rectangle 32"/>
          <p:cNvSpPr/>
          <p:nvPr/>
        </p:nvSpPr>
        <p:spPr>
          <a:xfrm>
            <a:off x="548640" y="5431536"/>
            <a:ext cx="3246120" cy="749808"/>
          </a:xfrm>
          <a:prstGeom prst="roundRect">
            <a:avLst>
              <a:gd name="adj" fmla="val 10000"/>
            </a:avLst>
          </a:prstGeom>
          <a:solidFill>
            <a:srgbClr val="E6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4087" y="5669279"/>
            <a:ext cx="274320" cy="274320"/>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100" b="1" i="0">
                <a:solidFill>
                  <a:srgbClr val="FFFFFF"/>
                </a:solidFill>
                <a:latin typeface="Segoe UI Symbol"/>
              </a:rPr>
              <a:t>✓</a:t>
            </a:r>
          </a:p>
        </p:txBody>
      </p:sp>
      <p:sp>
        <p:nvSpPr>
          <p:cNvPr id="35" name="TextBox 34"/>
          <p:cNvSpPr txBox="1"/>
          <p:nvPr/>
        </p:nvSpPr>
        <p:spPr>
          <a:xfrm>
            <a:off x="1097280" y="5504688"/>
            <a:ext cx="2606039" cy="603503"/>
          </a:xfrm>
          <a:prstGeom prst="rect">
            <a:avLst/>
          </a:prstGeom>
          <a:noFill/>
        </p:spPr>
        <p:txBody>
          <a:bodyPr wrap="square" lIns="0" rIns="0" tIns="0" bIns="0" anchor="ctr">
            <a:noAutofit/>
          </a:bodyPr>
          <a:lstStyle/>
          <a:p>
            <a:pPr algn="l">
              <a:spcAft>
                <a:spcPts val="100"/>
              </a:spcAft>
            </a:pPr>
            <a:r>
              <a:rPr sz="1500" b="1" i="0">
                <a:solidFill>
                  <a:srgbClr val="0B1F3A"/>
                </a:solidFill>
                <a:latin typeface="Calibri"/>
              </a:rPr>
              <a:t>Source-page references</a:t>
            </a:r>
          </a:p>
          <a:p>
            <a:pPr algn="l">
              <a:spcAft>
                <a:spcPts val="0"/>
              </a:spcAft>
            </a:pPr>
            <a:r>
              <a:rPr sz="1200" b="0" i="0">
                <a:solidFill>
                  <a:srgbClr val="5B677A"/>
                </a:solidFill>
                <a:latin typeface="Calibri"/>
              </a:rPr>
              <a:t>Links back to textbook pages</a:t>
            </a:r>
          </a:p>
        </p:txBody>
      </p:sp>
      <p:sp>
        <p:nvSpPr>
          <p:cNvPr id="36" name="Rounded Rectangle 35"/>
          <p:cNvSpPr/>
          <p:nvPr/>
        </p:nvSpPr>
        <p:spPr>
          <a:xfrm>
            <a:off x="3977639" y="5431536"/>
            <a:ext cx="3246120" cy="749808"/>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133087" y="56692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100" b="1" i="0">
                <a:solidFill>
                  <a:srgbClr val="0B1F3A"/>
                </a:solidFill>
                <a:latin typeface="Segoe UI Symbol"/>
              </a:rPr>
              <a:t>✓</a:t>
            </a:r>
          </a:p>
        </p:txBody>
      </p:sp>
      <p:sp>
        <p:nvSpPr>
          <p:cNvPr id="38" name="TextBox 37"/>
          <p:cNvSpPr txBox="1"/>
          <p:nvPr/>
        </p:nvSpPr>
        <p:spPr>
          <a:xfrm>
            <a:off x="4526279" y="5504688"/>
            <a:ext cx="2606039" cy="603503"/>
          </a:xfrm>
          <a:prstGeom prst="rect">
            <a:avLst/>
          </a:prstGeom>
          <a:noFill/>
        </p:spPr>
        <p:txBody>
          <a:bodyPr wrap="square" lIns="0" rIns="0" tIns="0" bIns="0" anchor="ctr">
            <a:noAutofit/>
          </a:bodyPr>
          <a:lstStyle/>
          <a:p>
            <a:pPr algn="l">
              <a:spcAft>
                <a:spcPts val="100"/>
              </a:spcAft>
            </a:pPr>
            <a:r>
              <a:rPr sz="1500" b="1" i="0">
                <a:solidFill>
                  <a:srgbClr val="FFFFFF"/>
                </a:solidFill>
                <a:latin typeface="Calibri"/>
              </a:rPr>
              <a:t>Editable before use</a:t>
            </a:r>
          </a:p>
          <a:p>
            <a:pPr algn="l">
              <a:spcAft>
                <a:spcPts val="0"/>
              </a:spcAft>
            </a:pPr>
            <a:r>
              <a:rPr sz="1200" b="0" i="0">
                <a:solidFill>
                  <a:srgbClr val="C9D6EA"/>
                </a:solidFill>
                <a:latin typeface="Calibri"/>
              </a:rPr>
              <a:t>Nothing is final until approved</a:t>
            </a:r>
          </a:p>
        </p:txBody>
      </p:sp>
      <p:sp>
        <p:nvSpPr>
          <p:cNvPr id="39" name="Rounded Rectangle 38"/>
          <p:cNvSpPr/>
          <p:nvPr/>
        </p:nvSpPr>
        <p:spPr>
          <a:xfrm>
            <a:off x="7452360" y="3291840"/>
            <a:ext cx="4187952" cy="2907792"/>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0" y="3520440"/>
            <a:ext cx="3566160" cy="365760"/>
          </a:xfrm>
          <a:prstGeom prst="rect">
            <a:avLst/>
          </a:prstGeom>
          <a:noFill/>
        </p:spPr>
        <p:txBody>
          <a:bodyPr wrap="square" lIns="0" rIns="0" tIns="0" bIns="0" anchor="t">
            <a:noAutofit/>
          </a:bodyPr>
          <a:lstStyle/>
          <a:p>
            <a:pPr algn="l">
              <a:spcAft>
                <a:spcPts val="0"/>
              </a:spcAft>
            </a:pPr>
            <a:r>
              <a:rPr sz="1800" b="1" i="0">
                <a:solidFill>
                  <a:srgbClr val="10B981"/>
                </a:solidFill>
                <a:latin typeface="Calibri"/>
              </a:rPr>
              <a:t>How it solves the problem</a:t>
            </a:r>
          </a:p>
        </p:txBody>
      </p:sp>
      <p:sp>
        <p:nvSpPr>
          <p:cNvPr id="41" name="Oval 40"/>
          <p:cNvSpPr/>
          <p:nvPr/>
        </p:nvSpPr>
        <p:spPr>
          <a:xfrm>
            <a:off x="7776972" y="4149852"/>
            <a:ext cx="100584" cy="100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10144" y="4069080"/>
            <a:ext cx="3374136" cy="658368"/>
          </a:xfrm>
          <a:prstGeom prst="rect">
            <a:avLst/>
          </a:prstGeom>
          <a:noFill/>
        </p:spPr>
        <p:txBody>
          <a:bodyPr wrap="square" lIns="0" rIns="0" tIns="0" bIns="0" anchor="t">
            <a:noAutofit/>
          </a:bodyPr>
          <a:lstStyle/>
          <a:p>
            <a:pPr algn="l">
              <a:spcAft>
                <a:spcPts val="0"/>
              </a:spcAft>
            </a:pPr>
            <a:r>
              <a:rPr sz="1600" b="0" i="0">
                <a:solidFill>
                  <a:srgbClr val="FFFFFF"/>
                </a:solidFill>
                <a:latin typeface="Calibri"/>
              </a:rPr>
              <a:t>Drafts the structure teachers now build by hand</a:t>
            </a:r>
          </a:p>
        </p:txBody>
      </p:sp>
      <p:sp>
        <p:nvSpPr>
          <p:cNvPr id="43" name="Oval 42"/>
          <p:cNvSpPr/>
          <p:nvPr/>
        </p:nvSpPr>
        <p:spPr>
          <a:xfrm>
            <a:off x="7776972" y="4808220"/>
            <a:ext cx="100584" cy="100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10144" y="4727448"/>
            <a:ext cx="3374136" cy="658368"/>
          </a:xfrm>
          <a:prstGeom prst="rect">
            <a:avLst/>
          </a:prstGeom>
          <a:noFill/>
        </p:spPr>
        <p:txBody>
          <a:bodyPr wrap="square" lIns="0" rIns="0" tIns="0" bIns="0" anchor="t">
            <a:noAutofit/>
          </a:bodyPr>
          <a:lstStyle/>
          <a:p>
            <a:pPr algn="l">
              <a:spcAft>
                <a:spcPts val="0"/>
              </a:spcAft>
            </a:pPr>
            <a:r>
              <a:rPr sz="1600" b="0" i="0">
                <a:solidFill>
                  <a:srgbClr val="FFFFFF"/>
                </a:solidFill>
                <a:latin typeface="Calibri"/>
              </a:rPr>
              <a:t>Keeps outputs traceable to source pages</a:t>
            </a:r>
          </a:p>
        </p:txBody>
      </p:sp>
      <p:sp>
        <p:nvSpPr>
          <p:cNvPr id="45" name="Oval 44"/>
          <p:cNvSpPr/>
          <p:nvPr/>
        </p:nvSpPr>
        <p:spPr>
          <a:xfrm>
            <a:off x="7776972" y="5466588"/>
            <a:ext cx="100584" cy="100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10144" y="5385816"/>
            <a:ext cx="3374136" cy="658368"/>
          </a:xfrm>
          <a:prstGeom prst="rect">
            <a:avLst/>
          </a:prstGeom>
          <a:noFill/>
        </p:spPr>
        <p:txBody>
          <a:bodyPr wrap="square" lIns="0" rIns="0" tIns="0" bIns="0" anchor="t">
            <a:noAutofit/>
          </a:bodyPr>
          <a:lstStyle/>
          <a:p>
            <a:pPr algn="l">
              <a:spcAft>
                <a:spcPts val="0"/>
              </a:spcAft>
            </a:pPr>
            <a:r>
              <a:rPr sz="1600" b="0" i="0">
                <a:solidFill>
                  <a:srgbClr val="FFFFFF"/>
                </a:solidFill>
                <a:latin typeface="Calibri"/>
              </a:rPr>
              <a:t>Leaves every final decision with the teacher</a:t>
            </a:r>
          </a:p>
        </p:txBody>
      </p:sp>
      <p:sp>
        <p:nvSpPr>
          <p:cNvPr id="47" name="TextBox 46"/>
          <p:cNvSpPr txBox="1"/>
          <p:nvPr/>
        </p:nvSpPr>
        <p:spPr>
          <a:xfrm>
            <a:off x="548640" y="6428232"/>
            <a:ext cx="5486400" cy="274320"/>
          </a:xfrm>
          <a:prstGeom prst="rect">
            <a:avLst/>
          </a:prstGeom>
          <a:noFill/>
        </p:spPr>
        <p:txBody>
          <a:bodyPr wrap="square" lIns="0" rIns="0" tIns="0" bIns="0" anchor="t">
            <a:noAutofit/>
          </a:bodyPr>
          <a:lstStyle/>
          <a:p>
            <a:pPr algn="l">
              <a:spcAft>
                <a:spcPts val="0"/>
              </a:spcAft>
            </a:pPr>
            <a:r>
              <a:rPr sz="1000" b="0" i="0">
                <a:solidFill>
                  <a:srgbClr val="5B677A"/>
                </a:solidFill>
                <a:latin typeface="Calibri"/>
              </a:rPr>
              <a:t>Project Axiora  |  CourseForge AI  |  Team KayCode</a:t>
            </a:r>
          </a:p>
        </p:txBody>
      </p:sp>
      <p:sp>
        <p:nvSpPr>
          <p:cNvPr id="48" name="TextBox 47"/>
          <p:cNvSpPr txBox="1"/>
          <p:nvPr/>
        </p:nvSpPr>
        <p:spPr>
          <a:xfrm>
            <a:off x="9811512" y="6428232"/>
            <a:ext cx="1828800" cy="274320"/>
          </a:xfrm>
          <a:prstGeom prst="rect">
            <a:avLst/>
          </a:prstGeom>
          <a:noFill/>
        </p:spPr>
        <p:txBody>
          <a:bodyPr wrap="square" lIns="0" rIns="0" tIns="0" bIns="0" anchor="t">
            <a:noAutofit/>
          </a:bodyPr>
          <a:lstStyle/>
          <a:p>
            <a:pPr algn="r">
              <a:spcAft>
                <a:spcPts val="0"/>
              </a:spcAft>
            </a:pPr>
            <a:r>
              <a:rPr sz="1000" b="0" i="0">
                <a:solidFill>
                  <a:srgbClr val="5B677A"/>
                </a:solidFill>
                <a:latin typeface="Calibri"/>
              </a:rP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74320"/>
          </a:xfrm>
          <a:prstGeom prst="rect">
            <a:avLst/>
          </a:prstGeom>
          <a:noFill/>
        </p:spPr>
        <p:txBody>
          <a:bodyPr wrap="square" lIns="0" rIns="0" tIns="0" bIns="0" anchor="t">
            <a:noAutofit/>
          </a:bodyPr>
          <a:lstStyle/>
          <a:p>
            <a:pPr algn="l">
              <a:spcAft>
                <a:spcPts val="0"/>
              </a:spcAft>
            </a:pPr>
            <a:r>
              <a:rPr sz="1300" b="1" i="0">
                <a:solidFill>
                  <a:srgbClr val="047857"/>
                </a:solidFill>
                <a:latin typeface="Calibri"/>
              </a:rPr>
              <a:t>INNOVATION AND UNIQUENESS</a:t>
            </a:r>
          </a:p>
        </p:txBody>
      </p:sp>
      <p:sp>
        <p:nvSpPr>
          <p:cNvPr id="3" name="TextBox 2"/>
          <p:cNvSpPr txBox="1"/>
          <p:nvPr/>
        </p:nvSpPr>
        <p:spPr>
          <a:xfrm>
            <a:off x="548640" y="603504"/>
            <a:ext cx="11064240" cy="640080"/>
          </a:xfrm>
          <a:prstGeom prst="rect">
            <a:avLst/>
          </a:prstGeom>
          <a:noFill/>
        </p:spPr>
        <p:txBody>
          <a:bodyPr wrap="square" lIns="0" rIns="0" tIns="0" bIns="0" anchor="t">
            <a:noAutofit/>
          </a:bodyPr>
          <a:lstStyle/>
          <a:p>
            <a:pPr algn="l">
              <a:spcAft>
                <a:spcPts val="0"/>
              </a:spcAft>
            </a:pPr>
            <a:r>
              <a:rPr sz="3400" b="1" i="0">
                <a:solidFill>
                  <a:srgbClr val="0B1F3A"/>
                </a:solidFill>
                <a:latin typeface="Calibri"/>
              </a:rPr>
              <a:t>Not just a summary: a structured, reviewable course</a:t>
            </a:r>
          </a:p>
        </p:txBody>
      </p:sp>
      <p:sp>
        <p:nvSpPr>
          <p:cNvPr id="4" name="TextBox 3"/>
          <p:cNvSpPr txBox="1"/>
          <p:nvPr/>
        </p:nvSpPr>
        <p:spPr>
          <a:xfrm>
            <a:off x="548640" y="1243584"/>
            <a:ext cx="11064240" cy="365760"/>
          </a:xfrm>
          <a:prstGeom prst="rect">
            <a:avLst/>
          </a:prstGeom>
          <a:noFill/>
        </p:spPr>
        <p:txBody>
          <a:bodyPr wrap="square" lIns="0" rIns="0" tIns="0" bIns="0" anchor="t">
            <a:noAutofit/>
          </a:bodyPr>
          <a:lstStyle/>
          <a:p>
            <a:pPr algn="l">
              <a:spcAft>
                <a:spcPts val="0"/>
              </a:spcAft>
            </a:pPr>
            <a:r>
              <a:rPr sz="1700" b="0" i="1">
                <a:solidFill>
                  <a:srgbClr val="047857"/>
                </a:solidFill>
                <a:latin typeface="Calibri"/>
              </a:rPr>
              <a:t>“Do not just summarize a textbook. Transform it into a structured, reviewable learning experience.”</a:t>
            </a:r>
          </a:p>
        </p:txBody>
      </p:sp>
      <p:sp>
        <p:nvSpPr>
          <p:cNvPr id="5" name="Rounded Rectangle 4"/>
          <p:cNvSpPr/>
          <p:nvPr/>
        </p:nvSpPr>
        <p:spPr>
          <a:xfrm>
            <a:off x="548640" y="1874519"/>
            <a:ext cx="4754880" cy="3063240"/>
          </a:xfrm>
          <a:prstGeom prst="roundRect">
            <a:avLst>
              <a:gd name="adj" fmla="val 10000"/>
            </a:avLst>
          </a:prstGeom>
          <a:solidFill>
            <a:srgbClr val="F2F5F9"/>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48839"/>
            <a:ext cx="4206240" cy="365760"/>
          </a:xfrm>
          <a:prstGeom prst="rect">
            <a:avLst/>
          </a:prstGeom>
          <a:noFill/>
        </p:spPr>
        <p:txBody>
          <a:bodyPr wrap="square" lIns="0" rIns="0" tIns="0" bIns="0" anchor="t">
            <a:noAutofit/>
          </a:bodyPr>
          <a:lstStyle/>
          <a:p>
            <a:pPr algn="l">
              <a:spcAft>
                <a:spcPts val="0"/>
              </a:spcAft>
            </a:pPr>
            <a:r>
              <a:rPr sz="2000" b="1" i="0">
                <a:solidFill>
                  <a:srgbClr val="5B677A"/>
                </a:solidFill>
                <a:latin typeface="Calibri"/>
              </a:rPr>
              <a:t>Generic summarization</a:t>
            </a:r>
          </a:p>
        </p:txBody>
      </p:sp>
      <p:sp>
        <p:nvSpPr>
          <p:cNvPr id="7" name="Oval 6"/>
          <p:cNvSpPr/>
          <p:nvPr/>
        </p:nvSpPr>
        <p:spPr>
          <a:xfrm>
            <a:off x="873252" y="2869691"/>
            <a:ext cx="100584" cy="100584"/>
          </a:xfrm>
          <a:prstGeom prst="ellipse">
            <a:avLst/>
          </a:prstGeom>
          <a:solidFill>
            <a:srgbClr val="5B6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6424" y="2788920"/>
            <a:ext cx="3968496" cy="566928"/>
          </a:xfrm>
          <a:prstGeom prst="rect">
            <a:avLst/>
          </a:prstGeom>
          <a:noFill/>
        </p:spPr>
        <p:txBody>
          <a:bodyPr wrap="square" lIns="0" rIns="0" tIns="0" bIns="0" anchor="t">
            <a:noAutofit/>
          </a:bodyPr>
          <a:lstStyle/>
          <a:p>
            <a:pPr algn="l">
              <a:spcAft>
                <a:spcPts val="0"/>
              </a:spcAft>
            </a:pPr>
            <a:r>
              <a:rPr sz="1600" b="0" i="0">
                <a:solidFill>
                  <a:srgbClr val="1E293B"/>
                </a:solidFill>
                <a:latin typeface="Calibri"/>
              </a:rPr>
              <a:t>Condenses document content</a:t>
            </a:r>
          </a:p>
        </p:txBody>
      </p:sp>
      <p:sp>
        <p:nvSpPr>
          <p:cNvPr id="9" name="Oval 8"/>
          <p:cNvSpPr/>
          <p:nvPr/>
        </p:nvSpPr>
        <p:spPr>
          <a:xfrm>
            <a:off x="873252" y="3436619"/>
            <a:ext cx="100584" cy="100584"/>
          </a:xfrm>
          <a:prstGeom prst="ellipse">
            <a:avLst/>
          </a:prstGeom>
          <a:solidFill>
            <a:srgbClr val="5B6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3355848"/>
            <a:ext cx="3968496" cy="566928"/>
          </a:xfrm>
          <a:prstGeom prst="rect">
            <a:avLst/>
          </a:prstGeom>
          <a:noFill/>
        </p:spPr>
        <p:txBody>
          <a:bodyPr wrap="square" lIns="0" rIns="0" tIns="0" bIns="0" anchor="t">
            <a:noAutofit/>
          </a:bodyPr>
          <a:lstStyle/>
          <a:p>
            <a:pPr algn="l">
              <a:spcAft>
                <a:spcPts val="0"/>
              </a:spcAft>
            </a:pPr>
            <a:r>
              <a:rPr sz="1600" b="0" i="0">
                <a:solidFill>
                  <a:srgbClr val="1E293B"/>
                </a:solidFill>
                <a:latin typeface="Calibri"/>
              </a:rPr>
              <a:t>Usually focuses on summaries</a:t>
            </a:r>
          </a:p>
        </p:txBody>
      </p:sp>
      <p:sp>
        <p:nvSpPr>
          <p:cNvPr id="11" name="Oval 10"/>
          <p:cNvSpPr/>
          <p:nvPr/>
        </p:nvSpPr>
        <p:spPr>
          <a:xfrm>
            <a:off x="873252" y="4003548"/>
            <a:ext cx="100584" cy="100584"/>
          </a:xfrm>
          <a:prstGeom prst="ellipse">
            <a:avLst/>
          </a:prstGeom>
          <a:solidFill>
            <a:srgbClr val="5B6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6424" y="3922776"/>
            <a:ext cx="3968496" cy="566928"/>
          </a:xfrm>
          <a:prstGeom prst="rect">
            <a:avLst/>
          </a:prstGeom>
          <a:noFill/>
        </p:spPr>
        <p:txBody>
          <a:bodyPr wrap="square" lIns="0" rIns="0" tIns="0" bIns="0" anchor="t">
            <a:noAutofit/>
          </a:bodyPr>
          <a:lstStyle/>
          <a:p>
            <a:pPr algn="l">
              <a:spcAft>
                <a:spcPts val="0"/>
              </a:spcAft>
            </a:pPr>
            <a:r>
              <a:rPr sz="1600" b="0" i="0">
                <a:solidFill>
                  <a:srgbClr val="1E293B"/>
                </a:solidFill>
                <a:latin typeface="Calibri"/>
              </a:rPr>
              <a:t>May not provide a complete teaching structure</a:t>
            </a:r>
          </a:p>
        </p:txBody>
      </p:sp>
      <p:sp>
        <p:nvSpPr>
          <p:cNvPr id="13" name="Oval 12"/>
          <p:cNvSpPr/>
          <p:nvPr/>
        </p:nvSpPr>
        <p:spPr>
          <a:xfrm>
            <a:off x="5431536" y="3122675"/>
            <a:ext cx="566928" cy="566928"/>
          </a:xfrm>
          <a:prstGeom prst="ellipse">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600" b="1" i="0">
                <a:solidFill>
                  <a:srgbClr val="5B677A"/>
                </a:solidFill>
                <a:latin typeface="Calibri"/>
              </a:rPr>
              <a:t>vs</a:t>
            </a:r>
          </a:p>
        </p:txBody>
      </p:sp>
      <p:sp>
        <p:nvSpPr>
          <p:cNvPr id="14" name="Rounded Rectangle 13"/>
          <p:cNvSpPr/>
          <p:nvPr/>
        </p:nvSpPr>
        <p:spPr>
          <a:xfrm>
            <a:off x="6126480" y="1874519"/>
            <a:ext cx="5513832" cy="3063240"/>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148839"/>
            <a:ext cx="4937760" cy="365760"/>
          </a:xfrm>
          <a:prstGeom prst="rect">
            <a:avLst/>
          </a:prstGeom>
          <a:noFill/>
        </p:spPr>
        <p:txBody>
          <a:bodyPr wrap="square" lIns="0" rIns="0" tIns="0" bIns="0" anchor="t">
            <a:noAutofit/>
          </a:bodyPr>
          <a:lstStyle/>
          <a:p>
            <a:pPr algn="l">
              <a:spcAft>
                <a:spcPts val="0"/>
              </a:spcAft>
            </a:pPr>
            <a:r>
              <a:rPr sz="2000" b="1" i="0">
                <a:solidFill>
                  <a:srgbClr val="FFFFFF"/>
                </a:solidFill>
                <a:latin typeface="Calibri"/>
              </a:rPr>
              <a:t>CourseForge AI (proposed)</a:t>
            </a:r>
          </a:p>
        </p:txBody>
      </p:sp>
      <p:sp>
        <p:nvSpPr>
          <p:cNvPr id="16" name="Oval 15"/>
          <p:cNvSpPr/>
          <p:nvPr/>
        </p:nvSpPr>
        <p:spPr>
          <a:xfrm>
            <a:off x="6446520" y="2755392"/>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000" b="1" i="0">
                <a:solidFill>
                  <a:srgbClr val="FFFFFF"/>
                </a:solidFill>
                <a:latin typeface="Segoe UI Symbol"/>
              </a:rPr>
              <a:t>✓</a:t>
            </a:r>
          </a:p>
        </p:txBody>
      </p:sp>
      <p:sp>
        <p:nvSpPr>
          <p:cNvPr id="17" name="TextBox 16"/>
          <p:cNvSpPr txBox="1"/>
          <p:nvPr/>
        </p:nvSpPr>
        <p:spPr>
          <a:xfrm>
            <a:off x="6812280" y="2743200"/>
            <a:ext cx="4572000" cy="420624"/>
          </a:xfrm>
          <a:prstGeom prst="rect">
            <a:avLst/>
          </a:prstGeom>
          <a:noFill/>
        </p:spPr>
        <p:txBody>
          <a:bodyPr wrap="square" lIns="0" rIns="0" tIns="0" bIns="0" anchor="t">
            <a:noAutofit/>
          </a:bodyPr>
          <a:lstStyle/>
          <a:p>
            <a:pPr algn="l">
              <a:spcAft>
                <a:spcPts val="0"/>
              </a:spcAft>
            </a:pPr>
            <a:r>
              <a:rPr sz="1600" b="0" i="0">
                <a:solidFill>
                  <a:srgbClr val="FFFFFF"/>
                </a:solidFill>
                <a:latin typeface="Calibri"/>
              </a:rPr>
              <a:t>Generates structured lessons</a:t>
            </a:r>
          </a:p>
        </p:txBody>
      </p:sp>
      <p:sp>
        <p:nvSpPr>
          <p:cNvPr id="18" name="Oval 17"/>
          <p:cNvSpPr/>
          <p:nvPr/>
        </p:nvSpPr>
        <p:spPr>
          <a:xfrm>
            <a:off x="6446520" y="3176016"/>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000" b="1" i="0">
                <a:solidFill>
                  <a:srgbClr val="FFFFFF"/>
                </a:solidFill>
                <a:latin typeface="Segoe UI Symbol"/>
              </a:rPr>
              <a:t>✓</a:t>
            </a:r>
          </a:p>
        </p:txBody>
      </p:sp>
      <p:sp>
        <p:nvSpPr>
          <p:cNvPr id="19" name="TextBox 18"/>
          <p:cNvSpPr txBox="1"/>
          <p:nvPr/>
        </p:nvSpPr>
        <p:spPr>
          <a:xfrm>
            <a:off x="6812280" y="3163824"/>
            <a:ext cx="4572000" cy="420624"/>
          </a:xfrm>
          <a:prstGeom prst="rect">
            <a:avLst/>
          </a:prstGeom>
          <a:noFill/>
        </p:spPr>
        <p:txBody>
          <a:bodyPr wrap="square" lIns="0" rIns="0" tIns="0" bIns="0" anchor="t">
            <a:noAutofit/>
          </a:bodyPr>
          <a:lstStyle/>
          <a:p>
            <a:pPr algn="l">
              <a:spcAft>
                <a:spcPts val="0"/>
              </a:spcAft>
            </a:pPr>
            <a:r>
              <a:rPr sz="1600" b="0" i="0">
                <a:solidFill>
                  <a:srgbClr val="FFFFFF"/>
                </a:solidFill>
                <a:latin typeface="Calibri"/>
              </a:rPr>
              <a:t>Defines learning objectives</a:t>
            </a:r>
          </a:p>
        </p:txBody>
      </p:sp>
      <p:sp>
        <p:nvSpPr>
          <p:cNvPr id="20" name="Oval 19"/>
          <p:cNvSpPr/>
          <p:nvPr/>
        </p:nvSpPr>
        <p:spPr>
          <a:xfrm>
            <a:off x="6446520" y="3596640"/>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000" b="1" i="0">
                <a:solidFill>
                  <a:srgbClr val="FFFFFF"/>
                </a:solidFill>
                <a:latin typeface="Segoe UI Symbol"/>
              </a:rPr>
              <a:t>✓</a:t>
            </a:r>
          </a:p>
        </p:txBody>
      </p:sp>
      <p:sp>
        <p:nvSpPr>
          <p:cNvPr id="21" name="TextBox 20"/>
          <p:cNvSpPr txBox="1"/>
          <p:nvPr/>
        </p:nvSpPr>
        <p:spPr>
          <a:xfrm>
            <a:off x="6812280" y="3584448"/>
            <a:ext cx="4572000" cy="420624"/>
          </a:xfrm>
          <a:prstGeom prst="rect">
            <a:avLst/>
          </a:prstGeom>
          <a:noFill/>
        </p:spPr>
        <p:txBody>
          <a:bodyPr wrap="square" lIns="0" rIns="0" tIns="0" bIns="0" anchor="t">
            <a:noAutofit/>
          </a:bodyPr>
          <a:lstStyle/>
          <a:p>
            <a:pPr algn="l">
              <a:spcAft>
                <a:spcPts val="0"/>
              </a:spcAft>
            </a:pPr>
            <a:r>
              <a:rPr sz="1600" b="0" i="0">
                <a:solidFill>
                  <a:srgbClr val="FFFFFF"/>
                </a:solidFill>
                <a:latin typeface="Calibri"/>
              </a:rPr>
              <a:t>Creates practice activities and quizzes</a:t>
            </a:r>
          </a:p>
        </p:txBody>
      </p:sp>
      <p:sp>
        <p:nvSpPr>
          <p:cNvPr id="22" name="Oval 21"/>
          <p:cNvSpPr/>
          <p:nvPr/>
        </p:nvSpPr>
        <p:spPr>
          <a:xfrm>
            <a:off x="6446520" y="4017264"/>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000" b="1" i="0">
                <a:solidFill>
                  <a:srgbClr val="FFFFFF"/>
                </a:solidFill>
                <a:latin typeface="Segoe UI Symbol"/>
              </a:rPr>
              <a:t>✓</a:t>
            </a:r>
          </a:p>
        </p:txBody>
      </p:sp>
      <p:sp>
        <p:nvSpPr>
          <p:cNvPr id="23" name="TextBox 22"/>
          <p:cNvSpPr txBox="1"/>
          <p:nvPr/>
        </p:nvSpPr>
        <p:spPr>
          <a:xfrm>
            <a:off x="6812280" y="4005072"/>
            <a:ext cx="4572000" cy="420624"/>
          </a:xfrm>
          <a:prstGeom prst="rect">
            <a:avLst/>
          </a:prstGeom>
          <a:noFill/>
        </p:spPr>
        <p:txBody>
          <a:bodyPr wrap="square" lIns="0" rIns="0" tIns="0" bIns="0" anchor="t">
            <a:noAutofit/>
          </a:bodyPr>
          <a:lstStyle/>
          <a:p>
            <a:pPr algn="l">
              <a:spcAft>
                <a:spcPts val="0"/>
              </a:spcAft>
            </a:pPr>
            <a:r>
              <a:rPr sz="1600" b="0" i="0">
                <a:solidFill>
                  <a:srgbClr val="FFFFFF"/>
                </a:solidFill>
                <a:latin typeface="Calibri"/>
              </a:rPr>
              <a:t>Links generated material to source pages</a:t>
            </a:r>
          </a:p>
        </p:txBody>
      </p:sp>
      <p:sp>
        <p:nvSpPr>
          <p:cNvPr id="24" name="Oval 23"/>
          <p:cNvSpPr/>
          <p:nvPr/>
        </p:nvSpPr>
        <p:spPr>
          <a:xfrm>
            <a:off x="6446520" y="443788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000" b="1" i="0">
                <a:solidFill>
                  <a:srgbClr val="FFFFFF"/>
                </a:solidFill>
                <a:latin typeface="Segoe UI Symbol"/>
              </a:rPr>
              <a:t>✓</a:t>
            </a:r>
          </a:p>
        </p:txBody>
      </p:sp>
      <p:sp>
        <p:nvSpPr>
          <p:cNvPr id="25" name="TextBox 24"/>
          <p:cNvSpPr txBox="1"/>
          <p:nvPr/>
        </p:nvSpPr>
        <p:spPr>
          <a:xfrm>
            <a:off x="6812280" y="4425696"/>
            <a:ext cx="4572000" cy="420624"/>
          </a:xfrm>
          <a:prstGeom prst="rect">
            <a:avLst/>
          </a:prstGeom>
          <a:noFill/>
        </p:spPr>
        <p:txBody>
          <a:bodyPr wrap="square" lIns="0" rIns="0" tIns="0" bIns="0" anchor="t">
            <a:noAutofit/>
          </a:bodyPr>
          <a:lstStyle/>
          <a:p>
            <a:pPr algn="l">
              <a:spcAft>
                <a:spcPts val="0"/>
              </a:spcAft>
            </a:pPr>
            <a:r>
              <a:rPr sz="1600" b="0" i="0">
                <a:solidFill>
                  <a:srgbClr val="FFFFFF"/>
                </a:solidFill>
                <a:latin typeface="Calibri"/>
              </a:rPr>
              <a:t>Supports teacher review and editing</a:t>
            </a:r>
          </a:p>
        </p:txBody>
      </p:sp>
      <p:sp>
        <p:nvSpPr>
          <p:cNvPr id="26" name="Rounded Rectangle 25"/>
          <p:cNvSpPr/>
          <p:nvPr/>
        </p:nvSpPr>
        <p:spPr>
          <a:xfrm>
            <a:off x="548640" y="5212080"/>
            <a:ext cx="3337560" cy="548640"/>
          </a:xfrm>
          <a:prstGeom prst="roundRect">
            <a:avLst>
              <a:gd name="adj" fmla="val 50000"/>
            </a:avLst>
          </a:prstGeom>
          <a:solidFill>
            <a:srgbClr val="E6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600" b="1" i="0">
                <a:solidFill>
                  <a:srgbClr val="047857"/>
                </a:solidFill>
                <a:latin typeface="Calibri"/>
              </a:rPr>
              <a:t>Structured course generation</a:t>
            </a:r>
          </a:p>
        </p:txBody>
      </p:sp>
      <p:sp>
        <p:nvSpPr>
          <p:cNvPr id="27" name="TextBox 26"/>
          <p:cNvSpPr txBox="1"/>
          <p:nvPr/>
        </p:nvSpPr>
        <p:spPr>
          <a:xfrm>
            <a:off x="3886200" y="5212080"/>
            <a:ext cx="530352" cy="548640"/>
          </a:xfrm>
          <a:prstGeom prst="rect">
            <a:avLst/>
          </a:prstGeom>
          <a:noFill/>
        </p:spPr>
        <p:txBody>
          <a:bodyPr wrap="square" lIns="0" rIns="0" tIns="0" bIns="0" anchor="ctr">
            <a:noAutofit/>
          </a:bodyPr>
          <a:lstStyle/>
          <a:p>
            <a:pPr algn="ctr">
              <a:spcAft>
                <a:spcPts val="0"/>
              </a:spcAft>
            </a:pPr>
            <a:r>
              <a:rPr sz="2400" b="1" i="0">
                <a:solidFill>
                  <a:srgbClr val="0B1F3A"/>
                </a:solidFill>
                <a:latin typeface="Calibri"/>
              </a:rPr>
              <a:t>+</a:t>
            </a:r>
          </a:p>
        </p:txBody>
      </p:sp>
      <p:sp>
        <p:nvSpPr>
          <p:cNvPr id="28" name="Rounded Rectangle 27"/>
          <p:cNvSpPr/>
          <p:nvPr/>
        </p:nvSpPr>
        <p:spPr>
          <a:xfrm>
            <a:off x="4416551" y="5212080"/>
            <a:ext cx="3337560" cy="548640"/>
          </a:xfrm>
          <a:prstGeom prst="roundRect">
            <a:avLst>
              <a:gd name="adj" fmla="val 50000"/>
            </a:avLst>
          </a:prstGeom>
          <a:solidFill>
            <a:srgbClr val="E6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600" b="1" i="0">
                <a:solidFill>
                  <a:srgbClr val="047857"/>
                </a:solidFill>
                <a:latin typeface="Calibri"/>
              </a:rPr>
              <a:t>Traceability to source pages</a:t>
            </a:r>
          </a:p>
        </p:txBody>
      </p:sp>
      <p:sp>
        <p:nvSpPr>
          <p:cNvPr id="29" name="TextBox 28"/>
          <p:cNvSpPr txBox="1"/>
          <p:nvPr/>
        </p:nvSpPr>
        <p:spPr>
          <a:xfrm>
            <a:off x="7754111" y="5212080"/>
            <a:ext cx="530352" cy="548640"/>
          </a:xfrm>
          <a:prstGeom prst="rect">
            <a:avLst/>
          </a:prstGeom>
          <a:noFill/>
        </p:spPr>
        <p:txBody>
          <a:bodyPr wrap="square" lIns="0" rIns="0" tIns="0" bIns="0" anchor="ctr">
            <a:noAutofit/>
          </a:bodyPr>
          <a:lstStyle/>
          <a:p>
            <a:pPr algn="ctr">
              <a:spcAft>
                <a:spcPts val="0"/>
              </a:spcAft>
            </a:pPr>
            <a:r>
              <a:rPr sz="2400" b="1" i="0">
                <a:solidFill>
                  <a:srgbClr val="0B1F3A"/>
                </a:solidFill>
                <a:latin typeface="Calibri"/>
              </a:rPr>
              <a:t>+</a:t>
            </a:r>
          </a:p>
        </p:txBody>
      </p:sp>
      <p:sp>
        <p:nvSpPr>
          <p:cNvPr id="30" name="Rounded Rectangle 29"/>
          <p:cNvSpPr/>
          <p:nvPr/>
        </p:nvSpPr>
        <p:spPr>
          <a:xfrm>
            <a:off x="8284463" y="5212080"/>
            <a:ext cx="3337560" cy="548640"/>
          </a:xfrm>
          <a:prstGeom prst="roundRect">
            <a:avLst>
              <a:gd name="adj" fmla="val 50000"/>
            </a:avLst>
          </a:prstGeom>
          <a:solidFill>
            <a:srgbClr val="E6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600" b="1" i="0">
                <a:solidFill>
                  <a:srgbClr val="047857"/>
                </a:solidFill>
                <a:latin typeface="Calibri"/>
              </a:rPr>
              <a:t>Teacher control</a:t>
            </a:r>
          </a:p>
        </p:txBody>
      </p:sp>
      <p:sp>
        <p:nvSpPr>
          <p:cNvPr id="31" name="TextBox 30"/>
          <p:cNvSpPr txBox="1"/>
          <p:nvPr/>
        </p:nvSpPr>
        <p:spPr>
          <a:xfrm>
            <a:off x="548640" y="5897880"/>
            <a:ext cx="11064240" cy="320040"/>
          </a:xfrm>
          <a:prstGeom prst="rect">
            <a:avLst/>
          </a:prstGeom>
          <a:noFill/>
        </p:spPr>
        <p:txBody>
          <a:bodyPr wrap="square" lIns="0" rIns="0" tIns="0" bIns="0" anchor="t">
            <a:noAutofit/>
          </a:bodyPr>
          <a:lstStyle/>
          <a:p>
            <a:pPr algn="ctr">
              <a:spcAft>
                <a:spcPts val="0"/>
              </a:spcAft>
            </a:pPr>
            <a:r>
              <a:rPr sz="1200" b="0" i="1">
                <a:solidFill>
                  <a:srgbClr val="5B677A"/>
                </a:solidFill>
                <a:latin typeface="Calibri"/>
              </a:rPr>
              <a:t>Page references support verification but do not guarantee correctness. Teacher review remains essential.</a:t>
            </a:r>
          </a:p>
        </p:txBody>
      </p:sp>
      <p:sp>
        <p:nvSpPr>
          <p:cNvPr id="32" name="TextBox 31"/>
          <p:cNvSpPr txBox="1"/>
          <p:nvPr/>
        </p:nvSpPr>
        <p:spPr>
          <a:xfrm>
            <a:off x="548640" y="6428232"/>
            <a:ext cx="5486400" cy="274320"/>
          </a:xfrm>
          <a:prstGeom prst="rect">
            <a:avLst/>
          </a:prstGeom>
          <a:noFill/>
        </p:spPr>
        <p:txBody>
          <a:bodyPr wrap="square" lIns="0" rIns="0" tIns="0" bIns="0" anchor="t">
            <a:noAutofit/>
          </a:bodyPr>
          <a:lstStyle/>
          <a:p>
            <a:pPr algn="l">
              <a:spcAft>
                <a:spcPts val="0"/>
              </a:spcAft>
            </a:pPr>
            <a:r>
              <a:rPr sz="1000" b="0" i="0">
                <a:solidFill>
                  <a:srgbClr val="5B677A"/>
                </a:solidFill>
                <a:latin typeface="Calibri"/>
              </a:rPr>
              <a:t>Project Axiora  |  CourseForge AI  |  Team KayCode</a:t>
            </a:r>
          </a:p>
        </p:txBody>
      </p:sp>
      <p:sp>
        <p:nvSpPr>
          <p:cNvPr id="33" name="TextBox 32"/>
          <p:cNvSpPr txBox="1"/>
          <p:nvPr/>
        </p:nvSpPr>
        <p:spPr>
          <a:xfrm>
            <a:off x="9811512" y="6428232"/>
            <a:ext cx="1828800" cy="274320"/>
          </a:xfrm>
          <a:prstGeom prst="rect">
            <a:avLst/>
          </a:prstGeom>
          <a:noFill/>
        </p:spPr>
        <p:txBody>
          <a:bodyPr wrap="square" lIns="0" rIns="0" tIns="0" bIns="0" anchor="t">
            <a:noAutofit/>
          </a:bodyPr>
          <a:lstStyle/>
          <a:p>
            <a:pPr algn="r">
              <a:spcAft>
                <a:spcPts val="0"/>
              </a:spcAft>
            </a:pPr>
            <a:r>
              <a:rPr sz="1000" b="0" i="0">
                <a:solidFill>
                  <a:srgbClr val="5B677A"/>
                </a:solidFill>
                <a:latin typeface="Calibri"/>
              </a:rP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74320"/>
          </a:xfrm>
          <a:prstGeom prst="rect">
            <a:avLst/>
          </a:prstGeom>
          <a:noFill/>
        </p:spPr>
        <p:txBody>
          <a:bodyPr wrap="square" lIns="0" rIns="0" tIns="0" bIns="0" anchor="t">
            <a:noAutofit/>
          </a:bodyPr>
          <a:lstStyle/>
          <a:p>
            <a:pPr algn="l">
              <a:spcAft>
                <a:spcPts val="0"/>
              </a:spcAft>
            </a:pPr>
            <a:r>
              <a:rPr sz="1300" b="1" i="0">
                <a:solidFill>
                  <a:srgbClr val="047857"/>
                </a:solidFill>
                <a:latin typeface="Calibri"/>
              </a:rPr>
              <a:t>PROTOTYPE / MVP</a:t>
            </a:r>
          </a:p>
        </p:txBody>
      </p:sp>
      <p:sp>
        <p:nvSpPr>
          <p:cNvPr id="3" name="TextBox 2"/>
          <p:cNvSpPr txBox="1"/>
          <p:nvPr/>
        </p:nvSpPr>
        <p:spPr>
          <a:xfrm>
            <a:off x="548640" y="603504"/>
            <a:ext cx="11064240" cy="640080"/>
          </a:xfrm>
          <a:prstGeom prst="rect">
            <a:avLst/>
          </a:prstGeom>
          <a:noFill/>
        </p:spPr>
        <p:txBody>
          <a:bodyPr wrap="square" lIns="0" rIns="0" tIns="0" bIns="0" anchor="t">
            <a:noAutofit/>
          </a:bodyPr>
          <a:lstStyle/>
          <a:p>
            <a:pPr algn="l">
              <a:spcAft>
                <a:spcPts val="0"/>
              </a:spcAft>
            </a:pPr>
            <a:r>
              <a:rPr sz="3400" b="1" i="0">
                <a:solidFill>
                  <a:srgbClr val="0B1F3A"/>
                </a:solidFill>
                <a:latin typeface="Calibri"/>
              </a:rPr>
              <a:t>Proposed MVP Interface</a:t>
            </a:r>
          </a:p>
        </p:txBody>
      </p:sp>
      <p:sp>
        <p:nvSpPr>
          <p:cNvPr id="4" name="TextBox 3"/>
          <p:cNvSpPr txBox="1"/>
          <p:nvPr/>
        </p:nvSpPr>
        <p:spPr>
          <a:xfrm>
            <a:off x="548640" y="1243584"/>
            <a:ext cx="11064240" cy="365760"/>
          </a:xfrm>
          <a:prstGeom prst="rect">
            <a:avLst/>
          </a:prstGeom>
          <a:noFill/>
        </p:spPr>
        <p:txBody>
          <a:bodyPr wrap="square" lIns="0" rIns="0" tIns="0" bIns="0" anchor="t">
            <a:noAutofit/>
          </a:bodyPr>
          <a:lstStyle/>
          <a:p>
            <a:pPr algn="l">
              <a:spcAft>
                <a:spcPts val="0"/>
              </a:spcAft>
            </a:pPr>
            <a:r>
              <a:rPr sz="1600" b="0" i="0">
                <a:solidFill>
                  <a:srgbClr val="5B677A"/>
                </a:solidFill>
                <a:latin typeface="Calibri"/>
              </a:rPr>
              <a:t>Conceptual design with illustrative content. Not a screenshot of working software.</a:t>
            </a:r>
          </a:p>
        </p:txBody>
      </p:sp>
      <p:sp>
        <p:nvSpPr>
          <p:cNvPr id="5" name="Rectangle 4"/>
          <p:cNvSpPr/>
          <p:nvPr/>
        </p:nvSpPr>
        <p:spPr>
          <a:xfrm>
            <a:off x="548640" y="1737360"/>
            <a:ext cx="7818120" cy="4526280"/>
          </a:xfrm>
          <a:prstGeom prst="rect">
            <a:avLst/>
          </a:prstGeom>
          <a:solidFill>
            <a:srgbClr val="FFFFFF"/>
          </a:solidFill>
          <a:ln w="1587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37360"/>
            <a:ext cx="781812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99515" y="1879091"/>
            <a:ext cx="100584" cy="100584"/>
          </a:xfrm>
          <a:prstGeom prst="ellipse">
            <a:avLst/>
          </a:prstGeom>
          <a:solidFill>
            <a:srgbClr val="3A52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82396" y="1879091"/>
            <a:ext cx="100584" cy="100584"/>
          </a:xfrm>
          <a:prstGeom prst="ellipse">
            <a:avLst/>
          </a:prstGeom>
          <a:solidFill>
            <a:srgbClr val="3A52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65276" y="1879091"/>
            <a:ext cx="100584" cy="100584"/>
          </a:xfrm>
          <a:prstGeom prst="ellipse">
            <a:avLst/>
          </a:prstGeom>
          <a:solidFill>
            <a:srgbClr val="3A52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737360"/>
            <a:ext cx="4114800" cy="384048"/>
          </a:xfrm>
          <a:prstGeom prst="rect">
            <a:avLst/>
          </a:prstGeom>
          <a:noFill/>
        </p:spPr>
        <p:txBody>
          <a:bodyPr wrap="square" lIns="0" rIns="0" tIns="0" bIns="0" anchor="ctr">
            <a:noAutofit/>
          </a:bodyPr>
          <a:lstStyle/>
          <a:p>
            <a:pPr algn="l">
              <a:spcAft>
                <a:spcPts val="0"/>
              </a:spcAft>
            </a:pPr>
            <a:r>
              <a:rPr sz="1100" b="1" i="0">
                <a:solidFill>
                  <a:srgbClr val="FFFFFF"/>
                </a:solidFill>
                <a:latin typeface="Calibri"/>
              </a:rPr>
              <a:t>CourseForge AI</a:t>
            </a:r>
          </a:p>
        </p:txBody>
      </p:sp>
      <p:sp>
        <p:nvSpPr>
          <p:cNvPr id="11" name="Rounded Rectangle 10"/>
          <p:cNvSpPr/>
          <p:nvPr/>
        </p:nvSpPr>
        <p:spPr>
          <a:xfrm>
            <a:off x="6583680" y="1810512"/>
            <a:ext cx="1645920" cy="237744"/>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900" b="1" i="0">
                <a:solidFill>
                  <a:srgbClr val="0B1F3A"/>
                </a:solidFill>
                <a:latin typeface="Calibri"/>
              </a:rPr>
              <a:t>CONCEPT MOCKUP</a:t>
            </a:r>
          </a:p>
        </p:txBody>
      </p:sp>
      <p:sp>
        <p:nvSpPr>
          <p:cNvPr id="12" name="Rectangle 11"/>
          <p:cNvSpPr/>
          <p:nvPr/>
        </p:nvSpPr>
        <p:spPr>
          <a:xfrm>
            <a:off x="548640" y="2121408"/>
            <a:ext cx="2240280" cy="4142232"/>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258568"/>
            <a:ext cx="1911095" cy="228600"/>
          </a:xfrm>
          <a:prstGeom prst="rect">
            <a:avLst/>
          </a:prstGeom>
          <a:noFill/>
        </p:spPr>
        <p:txBody>
          <a:bodyPr wrap="square" lIns="0" rIns="0" tIns="0" bIns="0" anchor="t">
            <a:noAutofit/>
          </a:bodyPr>
          <a:lstStyle/>
          <a:p>
            <a:pPr algn="l">
              <a:spcAft>
                <a:spcPts val="0"/>
              </a:spcAft>
            </a:pPr>
            <a:r>
              <a:rPr sz="1100" b="1" i="0">
                <a:solidFill>
                  <a:srgbClr val="0B1F3A"/>
                </a:solidFill>
                <a:latin typeface="Calibri"/>
              </a:rPr>
              <a:t>1. Upload textbook</a:t>
            </a:r>
          </a:p>
        </p:txBody>
      </p:sp>
      <p:sp>
        <p:nvSpPr>
          <p:cNvPr id="14" name="Rounded Rectangle 13"/>
          <p:cNvSpPr/>
          <p:nvPr/>
        </p:nvSpPr>
        <p:spPr>
          <a:xfrm>
            <a:off x="713232" y="2505456"/>
            <a:ext cx="1911095" cy="731520"/>
          </a:xfrm>
          <a:prstGeom prst="roundRect">
            <a:avLst>
              <a:gd name="adj" fmla="val 8000"/>
            </a:avLst>
          </a:prstGeom>
          <a:solidFill>
            <a:srgbClr val="FFFFFF"/>
          </a:solidFill>
          <a:ln w="15875">
            <a:solidFill>
              <a:srgbClr val="10B98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2560320"/>
            <a:ext cx="1911095" cy="640080"/>
          </a:xfrm>
          <a:prstGeom prst="rect">
            <a:avLst/>
          </a:prstGeom>
          <a:noFill/>
        </p:spPr>
        <p:txBody>
          <a:bodyPr wrap="square" lIns="0" rIns="0" tIns="0" bIns="0" anchor="ctr">
            <a:noAutofit/>
          </a:bodyPr>
          <a:lstStyle/>
          <a:p>
            <a:pPr algn="ctr">
              <a:spcAft>
                <a:spcPts val="0"/>
              </a:spcAft>
            </a:pPr>
            <a:r>
              <a:rPr sz="1100" b="1" i="0">
                <a:solidFill>
                  <a:srgbClr val="0B1F3A"/>
                </a:solidFill>
                <a:latin typeface="Calibri"/>
              </a:rPr>
              <a:t>Sample textbook.pdf</a:t>
            </a:r>
          </a:p>
          <a:p>
            <a:pPr algn="ctr">
              <a:spcAft>
                <a:spcPts val="0"/>
              </a:spcAft>
            </a:pPr>
            <a:r>
              <a:rPr sz="1000" b="0" i="0">
                <a:solidFill>
                  <a:srgbClr val="5B677A"/>
                </a:solidFill>
                <a:latin typeface="Calibri"/>
              </a:rPr>
              <a:t>Drop a PDF here</a:t>
            </a:r>
          </a:p>
        </p:txBody>
      </p:sp>
      <p:sp>
        <p:nvSpPr>
          <p:cNvPr id="16" name="TextBox 15"/>
          <p:cNvSpPr txBox="1"/>
          <p:nvPr/>
        </p:nvSpPr>
        <p:spPr>
          <a:xfrm>
            <a:off x="713232" y="3355848"/>
            <a:ext cx="1911095" cy="228600"/>
          </a:xfrm>
          <a:prstGeom prst="rect">
            <a:avLst/>
          </a:prstGeom>
          <a:noFill/>
        </p:spPr>
        <p:txBody>
          <a:bodyPr wrap="square" lIns="0" rIns="0" tIns="0" bIns="0" anchor="t">
            <a:noAutofit/>
          </a:bodyPr>
          <a:lstStyle/>
          <a:p>
            <a:pPr algn="l">
              <a:spcAft>
                <a:spcPts val="0"/>
              </a:spcAft>
            </a:pPr>
            <a:r>
              <a:rPr sz="1100" b="1" i="0">
                <a:solidFill>
                  <a:srgbClr val="0B1F3A"/>
                </a:solidFill>
                <a:latin typeface="Calibri"/>
              </a:rPr>
              <a:t>2. Select chapter</a:t>
            </a:r>
          </a:p>
        </p:txBody>
      </p:sp>
      <p:sp>
        <p:nvSpPr>
          <p:cNvPr id="17" name="Rounded Rectangle 16"/>
          <p:cNvSpPr/>
          <p:nvPr/>
        </p:nvSpPr>
        <p:spPr>
          <a:xfrm>
            <a:off x="713232" y="3602736"/>
            <a:ext cx="1911095" cy="347472"/>
          </a:xfrm>
          <a:prstGeom prst="roundRect">
            <a:avLst>
              <a:gd name="adj" fmla="val 15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spcAft>
                <a:spcPts val="0"/>
              </a:spcAft>
            </a:pPr>
            <a:r>
              <a:rPr sz="1000" b="0" i="0">
                <a:solidFill>
                  <a:srgbClr val="1E293B"/>
                </a:solidFill>
                <a:latin typeface="Calibri"/>
              </a:rPr>
              <a:t>Chapter 3: Photosynthesis</a:t>
            </a:r>
          </a:p>
        </p:txBody>
      </p:sp>
      <p:sp>
        <p:nvSpPr>
          <p:cNvPr id="18" name="Isosceles Triangle 17"/>
          <p:cNvSpPr/>
          <p:nvPr/>
        </p:nvSpPr>
        <p:spPr>
          <a:xfrm rot="10800000">
            <a:off x="2423160" y="3739896"/>
            <a:ext cx="109728" cy="82296"/>
          </a:xfrm>
          <a:prstGeom prst="triangle">
            <a:avLst/>
          </a:prstGeom>
          <a:solidFill>
            <a:srgbClr val="5B6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4005072"/>
            <a:ext cx="1911095" cy="228600"/>
          </a:xfrm>
          <a:prstGeom prst="rect">
            <a:avLst/>
          </a:prstGeom>
          <a:noFill/>
        </p:spPr>
        <p:txBody>
          <a:bodyPr wrap="square" lIns="0" rIns="0" tIns="0" bIns="0" anchor="t">
            <a:noAutofit/>
          </a:bodyPr>
          <a:lstStyle/>
          <a:p>
            <a:pPr algn="l">
              <a:spcAft>
                <a:spcPts val="0"/>
              </a:spcAft>
            </a:pPr>
            <a:r>
              <a:rPr sz="1000" b="0" i="0">
                <a:solidFill>
                  <a:srgbClr val="5B677A"/>
                </a:solidFill>
                <a:latin typeface="Calibri"/>
              </a:rPr>
              <a:t>Source pages: 41 to 58</a:t>
            </a:r>
          </a:p>
        </p:txBody>
      </p:sp>
      <p:sp>
        <p:nvSpPr>
          <p:cNvPr id="20" name="Rounded Rectangle 19"/>
          <p:cNvSpPr/>
          <p:nvPr/>
        </p:nvSpPr>
        <p:spPr>
          <a:xfrm>
            <a:off x="713232" y="4361688"/>
            <a:ext cx="1911095" cy="384048"/>
          </a:xfrm>
          <a:prstGeom prst="roundRect">
            <a:avLst>
              <a:gd name="adj" fmla="val 20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200" b="1" i="0">
                <a:solidFill>
                  <a:srgbClr val="FFFFFF"/>
                </a:solidFill>
                <a:latin typeface="Calibri"/>
              </a:rPr>
              <a:t>Generate course</a:t>
            </a:r>
          </a:p>
        </p:txBody>
      </p:sp>
      <p:sp>
        <p:nvSpPr>
          <p:cNvPr id="21" name="TextBox 20"/>
          <p:cNvSpPr txBox="1"/>
          <p:nvPr/>
        </p:nvSpPr>
        <p:spPr>
          <a:xfrm>
            <a:off x="713232" y="4910327"/>
            <a:ext cx="1911095" cy="228600"/>
          </a:xfrm>
          <a:prstGeom prst="rect">
            <a:avLst/>
          </a:prstGeom>
          <a:noFill/>
        </p:spPr>
        <p:txBody>
          <a:bodyPr wrap="square" lIns="0" rIns="0" tIns="0" bIns="0" anchor="t">
            <a:noAutofit/>
          </a:bodyPr>
          <a:lstStyle/>
          <a:p>
            <a:pPr algn="l">
              <a:spcAft>
                <a:spcPts val="0"/>
              </a:spcAft>
            </a:pPr>
            <a:r>
              <a:rPr sz="1100" b="1" i="0">
                <a:solidFill>
                  <a:srgbClr val="0B1F3A"/>
                </a:solidFill>
                <a:latin typeface="Calibri"/>
              </a:rPr>
              <a:t>3. Review</a:t>
            </a:r>
          </a:p>
        </p:txBody>
      </p:sp>
      <p:sp>
        <p:nvSpPr>
          <p:cNvPr id="22" name="TextBox 21"/>
          <p:cNvSpPr txBox="1"/>
          <p:nvPr/>
        </p:nvSpPr>
        <p:spPr>
          <a:xfrm>
            <a:off x="713232" y="5138927"/>
            <a:ext cx="1911095" cy="548640"/>
          </a:xfrm>
          <a:prstGeom prst="rect">
            <a:avLst/>
          </a:prstGeom>
          <a:noFill/>
        </p:spPr>
        <p:txBody>
          <a:bodyPr wrap="square" lIns="0" rIns="0" tIns="0" bIns="0" anchor="t">
            <a:noAutofit/>
          </a:bodyPr>
          <a:lstStyle/>
          <a:p>
            <a:pPr algn="l">
              <a:spcAft>
                <a:spcPts val="0"/>
              </a:spcAft>
            </a:pPr>
            <a:r>
              <a:rPr sz="1000" b="0" i="0">
                <a:solidFill>
                  <a:srgbClr val="5B677A"/>
                </a:solidFill>
                <a:latin typeface="Calibri"/>
              </a:rPr>
              <a:t>Teacher review required before any classroom use</a:t>
            </a:r>
          </a:p>
        </p:txBody>
      </p:sp>
      <p:sp>
        <p:nvSpPr>
          <p:cNvPr id="23" name="TextBox 22"/>
          <p:cNvSpPr txBox="1"/>
          <p:nvPr/>
        </p:nvSpPr>
        <p:spPr>
          <a:xfrm>
            <a:off x="2971800" y="2258568"/>
            <a:ext cx="5212080" cy="228600"/>
          </a:xfrm>
          <a:prstGeom prst="rect">
            <a:avLst/>
          </a:prstGeom>
          <a:noFill/>
        </p:spPr>
        <p:txBody>
          <a:bodyPr wrap="square" lIns="0" rIns="0" tIns="0" bIns="0" anchor="t">
            <a:noAutofit/>
          </a:bodyPr>
          <a:lstStyle/>
          <a:p>
            <a:pPr algn="l">
              <a:spcAft>
                <a:spcPts val="0"/>
              </a:spcAft>
            </a:pPr>
            <a:r>
              <a:rPr sz="1200" b="1" i="0">
                <a:solidFill>
                  <a:srgbClr val="0B1F3A"/>
                </a:solidFill>
                <a:latin typeface="Calibri"/>
              </a:rPr>
              <a:t>Learning objectives</a:t>
            </a:r>
          </a:p>
        </p:txBody>
      </p:sp>
      <p:sp>
        <p:nvSpPr>
          <p:cNvPr id="24" name="Rounded Rectangle 23"/>
          <p:cNvSpPr/>
          <p:nvPr/>
        </p:nvSpPr>
        <p:spPr>
          <a:xfrm>
            <a:off x="2971800" y="2505456"/>
            <a:ext cx="5212080" cy="749808"/>
          </a:xfrm>
          <a:prstGeom prst="roundRect">
            <a:avLst>
              <a:gd name="adj" fmla="val 8000"/>
            </a:avLst>
          </a:prstGeom>
          <a:solidFill>
            <a:srgbClr val="E6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0" y="2551176"/>
            <a:ext cx="4937760" cy="658368"/>
          </a:xfrm>
          <a:prstGeom prst="rect">
            <a:avLst/>
          </a:prstGeom>
          <a:noFill/>
        </p:spPr>
        <p:txBody>
          <a:bodyPr wrap="square" lIns="0" rIns="0" tIns="0" bIns="0" anchor="ctr">
            <a:noAutofit/>
          </a:bodyPr>
          <a:lstStyle/>
          <a:p>
            <a:pPr algn="l">
              <a:spcAft>
                <a:spcPts val="300"/>
              </a:spcAft>
            </a:pPr>
            <a:r>
              <a:rPr sz="1100" b="0" i="0">
                <a:solidFill>
                  <a:srgbClr val="1E293B"/>
                </a:solidFill>
                <a:latin typeface="Calibri"/>
              </a:rPr>
              <a:t>1.  Describe the inputs and outputs of photosynthesis</a:t>
            </a:r>
          </a:p>
          <a:p>
            <a:pPr algn="l">
              <a:spcAft>
                <a:spcPts val="300"/>
              </a:spcAft>
            </a:pPr>
            <a:r>
              <a:rPr sz="1100" b="0" i="0">
                <a:solidFill>
                  <a:srgbClr val="1E293B"/>
                </a:solidFill>
                <a:latin typeface="Calibri"/>
              </a:rPr>
              <a:t>2.  Explain the role of chlorophyll in capturing light</a:t>
            </a:r>
          </a:p>
        </p:txBody>
      </p:sp>
      <p:sp>
        <p:nvSpPr>
          <p:cNvPr id="26" name="TextBox 25"/>
          <p:cNvSpPr txBox="1"/>
          <p:nvPr/>
        </p:nvSpPr>
        <p:spPr>
          <a:xfrm>
            <a:off x="2971800" y="3355848"/>
            <a:ext cx="5212080" cy="228600"/>
          </a:xfrm>
          <a:prstGeom prst="rect">
            <a:avLst/>
          </a:prstGeom>
          <a:noFill/>
        </p:spPr>
        <p:txBody>
          <a:bodyPr wrap="square" lIns="0" rIns="0" tIns="0" bIns="0" anchor="t">
            <a:noAutofit/>
          </a:bodyPr>
          <a:lstStyle/>
          <a:p>
            <a:pPr algn="l">
              <a:spcAft>
                <a:spcPts val="0"/>
              </a:spcAft>
            </a:pPr>
            <a:r>
              <a:rPr sz="1200" b="1" i="0">
                <a:solidFill>
                  <a:srgbClr val="0B1F3A"/>
                </a:solidFill>
                <a:latin typeface="Calibri"/>
              </a:rPr>
              <a:t>Lessons (5)</a:t>
            </a:r>
          </a:p>
        </p:txBody>
      </p:sp>
      <p:sp>
        <p:nvSpPr>
          <p:cNvPr id="27" name="Rounded Rectangle 26"/>
          <p:cNvSpPr/>
          <p:nvPr/>
        </p:nvSpPr>
        <p:spPr>
          <a:xfrm>
            <a:off x="2971800" y="3602736"/>
            <a:ext cx="954633" cy="566928"/>
          </a:xfrm>
          <a:prstGeom prst="roundRect">
            <a:avLst>
              <a:gd name="adj" fmla="val 12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71800" y="3602736"/>
            <a:ext cx="954633" cy="566928"/>
          </a:xfrm>
          <a:prstGeom prst="rect">
            <a:avLst/>
          </a:prstGeom>
          <a:noFill/>
        </p:spPr>
        <p:txBody>
          <a:bodyPr wrap="square" lIns="0" rIns="0" tIns="0" bIns="0" anchor="ctr">
            <a:noAutofit/>
          </a:bodyPr>
          <a:lstStyle/>
          <a:p>
            <a:pPr algn="ctr">
              <a:spcAft>
                <a:spcPts val="0"/>
              </a:spcAft>
            </a:pPr>
            <a:r>
              <a:rPr sz="1000" b="1" i="0">
                <a:solidFill>
                  <a:srgbClr val="10B981"/>
                </a:solidFill>
                <a:latin typeface="Calibri"/>
              </a:rPr>
              <a:t>Lesson 1</a:t>
            </a:r>
          </a:p>
          <a:p>
            <a:pPr algn="ctr">
              <a:spcAft>
                <a:spcPts val="0"/>
              </a:spcAft>
            </a:pPr>
            <a:r>
              <a:rPr sz="1000" b="0" i="0">
                <a:solidFill>
                  <a:srgbClr val="FFFFFF"/>
                </a:solidFill>
                <a:latin typeface="Calibri"/>
              </a:rPr>
              <a:t>Overview</a:t>
            </a:r>
          </a:p>
        </p:txBody>
      </p:sp>
      <p:sp>
        <p:nvSpPr>
          <p:cNvPr id="29" name="Rounded Rectangle 28"/>
          <p:cNvSpPr/>
          <p:nvPr/>
        </p:nvSpPr>
        <p:spPr>
          <a:xfrm>
            <a:off x="4036161" y="3602736"/>
            <a:ext cx="954633" cy="566928"/>
          </a:xfrm>
          <a:prstGeom prst="roundRect">
            <a:avLst>
              <a:gd name="adj" fmla="val 12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36161" y="3602736"/>
            <a:ext cx="954633" cy="566928"/>
          </a:xfrm>
          <a:prstGeom prst="rect">
            <a:avLst/>
          </a:prstGeom>
          <a:noFill/>
        </p:spPr>
        <p:txBody>
          <a:bodyPr wrap="square" lIns="0" rIns="0" tIns="0" bIns="0" anchor="ctr">
            <a:noAutofit/>
          </a:bodyPr>
          <a:lstStyle/>
          <a:p>
            <a:pPr algn="ctr">
              <a:spcAft>
                <a:spcPts val="0"/>
              </a:spcAft>
            </a:pPr>
            <a:r>
              <a:rPr sz="1000" b="1" i="0">
                <a:solidFill>
                  <a:srgbClr val="047857"/>
                </a:solidFill>
                <a:latin typeface="Calibri"/>
              </a:rPr>
              <a:t>Lesson 2</a:t>
            </a:r>
          </a:p>
          <a:p>
            <a:pPr algn="ctr">
              <a:spcAft>
                <a:spcPts val="0"/>
              </a:spcAft>
            </a:pPr>
            <a:r>
              <a:rPr sz="1000" b="0" i="0">
                <a:solidFill>
                  <a:srgbClr val="1E293B"/>
                </a:solidFill>
                <a:latin typeface="Calibri"/>
              </a:rPr>
              <a:t>Chlorophyll</a:t>
            </a:r>
          </a:p>
        </p:txBody>
      </p:sp>
      <p:sp>
        <p:nvSpPr>
          <p:cNvPr id="31" name="Rounded Rectangle 30"/>
          <p:cNvSpPr/>
          <p:nvPr/>
        </p:nvSpPr>
        <p:spPr>
          <a:xfrm>
            <a:off x="5100523" y="3602736"/>
            <a:ext cx="954633" cy="566928"/>
          </a:xfrm>
          <a:prstGeom prst="roundRect">
            <a:avLst>
              <a:gd name="adj" fmla="val 12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00523" y="3602736"/>
            <a:ext cx="954633" cy="566928"/>
          </a:xfrm>
          <a:prstGeom prst="rect">
            <a:avLst/>
          </a:prstGeom>
          <a:noFill/>
        </p:spPr>
        <p:txBody>
          <a:bodyPr wrap="square" lIns="0" rIns="0" tIns="0" bIns="0" anchor="ctr">
            <a:noAutofit/>
          </a:bodyPr>
          <a:lstStyle/>
          <a:p>
            <a:pPr algn="ctr">
              <a:spcAft>
                <a:spcPts val="0"/>
              </a:spcAft>
            </a:pPr>
            <a:r>
              <a:rPr sz="1000" b="1" i="0">
                <a:solidFill>
                  <a:srgbClr val="047857"/>
                </a:solidFill>
                <a:latin typeface="Calibri"/>
              </a:rPr>
              <a:t>Lesson 3</a:t>
            </a:r>
          </a:p>
          <a:p>
            <a:pPr algn="ctr">
              <a:spcAft>
                <a:spcPts val="0"/>
              </a:spcAft>
            </a:pPr>
            <a:r>
              <a:rPr sz="1000" b="0" i="0">
                <a:solidFill>
                  <a:srgbClr val="1E293B"/>
                </a:solidFill>
                <a:latin typeface="Calibri"/>
              </a:rPr>
              <a:t>Light stage</a:t>
            </a:r>
          </a:p>
        </p:txBody>
      </p:sp>
      <p:sp>
        <p:nvSpPr>
          <p:cNvPr id="33" name="Rounded Rectangle 32"/>
          <p:cNvSpPr/>
          <p:nvPr/>
        </p:nvSpPr>
        <p:spPr>
          <a:xfrm>
            <a:off x="6164884" y="3602736"/>
            <a:ext cx="954633" cy="566928"/>
          </a:xfrm>
          <a:prstGeom prst="roundRect">
            <a:avLst>
              <a:gd name="adj" fmla="val 12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64884" y="3602736"/>
            <a:ext cx="954633" cy="566928"/>
          </a:xfrm>
          <a:prstGeom prst="rect">
            <a:avLst/>
          </a:prstGeom>
          <a:noFill/>
        </p:spPr>
        <p:txBody>
          <a:bodyPr wrap="square" lIns="0" rIns="0" tIns="0" bIns="0" anchor="ctr">
            <a:noAutofit/>
          </a:bodyPr>
          <a:lstStyle/>
          <a:p>
            <a:pPr algn="ctr">
              <a:spcAft>
                <a:spcPts val="0"/>
              </a:spcAft>
            </a:pPr>
            <a:r>
              <a:rPr sz="1000" b="1" i="0">
                <a:solidFill>
                  <a:srgbClr val="047857"/>
                </a:solidFill>
                <a:latin typeface="Calibri"/>
              </a:rPr>
              <a:t>Lesson 4</a:t>
            </a:r>
          </a:p>
          <a:p>
            <a:pPr algn="ctr">
              <a:spcAft>
                <a:spcPts val="0"/>
              </a:spcAft>
            </a:pPr>
            <a:r>
              <a:rPr sz="1000" b="0" i="0">
                <a:solidFill>
                  <a:srgbClr val="1E293B"/>
                </a:solidFill>
                <a:latin typeface="Calibri"/>
              </a:rPr>
              <a:t>Calvin cycle</a:t>
            </a:r>
          </a:p>
        </p:txBody>
      </p:sp>
      <p:sp>
        <p:nvSpPr>
          <p:cNvPr id="35" name="Rounded Rectangle 34"/>
          <p:cNvSpPr/>
          <p:nvPr/>
        </p:nvSpPr>
        <p:spPr>
          <a:xfrm>
            <a:off x="7229246" y="3602736"/>
            <a:ext cx="954633" cy="566928"/>
          </a:xfrm>
          <a:prstGeom prst="roundRect">
            <a:avLst>
              <a:gd name="adj" fmla="val 12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29246" y="3602736"/>
            <a:ext cx="954633" cy="566928"/>
          </a:xfrm>
          <a:prstGeom prst="rect">
            <a:avLst/>
          </a:prstGeom>
          <a:noFill/>
        </p:spPr>
        <p:txBody>
          <a:bodyPr wrap="square" lIns="0" rIns="0" tIns="0" bIns="0" anchor="ctr">
            <a:noAutofit/>
          </a:bodyPr>
          <a:lstStyle/>
          <a:p>
            <a:pPr algn="ctr">
              <a:spcAft>
                <a:spcPts val="0"/>
              </a:spcAft>
            </a:pPr>
            <a:r>
              <a:rPr sz="1000" b="1" i="0">
                <a:solidFill>
                  <a:srgbClr val="047857"/>
                </a:solidFill>
                <a:latin typeface="Calibri"/>
              </a:rPr>
              <a:t>Lesson 5</a:t>
            </a:r>
          </a:p>
          <a:p>
            <a:pPr algn="ctr">
              <a:spcAft>
                <a:spcPts val="0"/>
              </a:spcAft>
            </a:pPr>
            <a:r>
              <a:rPr sz="1000" b="0" i="0">
                <a:solidFill>
                  <a:srgbClr val="1E293B"/>
                </a:solidFill>
                <a:latin typeface="Calibri"/>
              </a:rPr>
              <a:t>Review</a:t>
            </a:r>
          </a:p>
        </p:txBody>
      </p:sp>
      <p:sp>
        <p:nvSpPr>
          <p:cNvPr id="37" name="Rounded Rectangle 36"/>
          <p:cNvSpPr/>
          <p:nvPr/>
        </p:nvSpPr>
        <p:spPr>
          <a:xfrm>
            <a:off x="2971800" y="4315968"/>
            <a:ext cx="5212080" cy="1298448"/>
          </a:xfrm>
          <a:prstGeom prst="roundRect">
            <a:avLst>
              <a:gd name="adj" fmla="val 6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108960" y="4407407"/>
            <a:ext cx="2286000" cy="228600"/>
          </a:xfrm>
          <a:prstGeom prst="rect">
            <a:avLst/>
          </a:prstGeom>
          <a:noFill/>
        </p:spPr>
        <p:txBody>
          <a:bodyPr wrap="square" lIns="0" rIns="0" tIns="0" bIns="0" anchor="t">
            <a:noAutofit/>
          </a:bodyPr>
          <a:lstStyle/>
          <a:p>
            <a:pPr algn="l">
              <a:spcAft>
                <a:spcPts val="0"/>
              </a:spcAft>
            </a:pPr>
            <a:r>
              <a:rPr sz="1000" b="1" i="0">
                <a:solidFill>
                  <a:srgbClr val="047857"/>
                </a:solidFill>
                <a:latin typeface="Calibri"/>
              </a:rPr>
              <a:t>QUIZ QUESTION 1</a:t>
            </a:r>
          </a:p>
        </p:txBody>
      </p:sp>
      <p:sp>
        <p:nvSpPr>
          <p:cNvPr id="39" name="Rounded Rectangle 38"/>
          <p:cNvSpPr/>
          <p:nvPr/>
        </p:nvSpPr>
        <p:spPr>
          <a:xfrm>
            <a:off x="6995160" y="4398264"/>
            <a:ext cx="1051560" cy="246888"/>
          </a:xfrm>
          <a:prstGeom prst="roundRect">
            <a:avLst>
              <a:gd name="adj" fmla="val 50000"/>
            </a:avLst>
          </a:prstGeom>
          <a:solidFill>
            <a:srgbClr val="E6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000" b="1" i="0">
                <a:solidFill>
                  <a:srgbClr val="047857"/>
                </a:solidFill>
                <a:latin typeface="Calibri"/>
              </a:rPr>
              <a:t>Source: p. 43</a:t>
            </a:r>
          </a:p>
        </p:txBody>
      </p:sp>
      <p:sp>
        <p:nvSpPr>
          <p:cNvPr id="40" name="TextBox 39"/>
          <p:cNvSpPr txBox="1"/>
          <p:nvPr/>
        </p:nvSpPr>
        <p:spPr>
          <a:xfrm>
            <a:off x="3108960" y="4645152"/>
            <a:ext cx="4937760" cy="256032"/>
          </a:xfrm>
          <a:prstGeom prst="rect">
            <a:avLst/>
          </a:prstGeom>
          <a:noFill/>
        </p:spPr>
        <p:txBody>
          <a:bodyPr wrap="square" lIns="0" rIns="0" tIns="0" bIns="0" anchor="t">
            <a:noAutofit/>
          </a:bodyPr>
          <a:lstStyle/>
          <a:p>
            <a:pPr algn="l">
              <a:spcAft>
                <a:spcPts val="0"/>
              </a:spcAft>
            </a:pPr>
            <a:r>
              <a:rPr sz="1100" b="1" i="0">
                <a:solidFill>
                  <a:srgbClr val="0B1F3A"/>
                </a:solidFill>
                <a:latin typeface="Calibri"/>
              </a:rPr>
              <a:t>Where in a plant cell does photosynthesis take place?</a:t>
            </a:r>
          </a:p>
        </p:txBody>
      </p:sp>
      <p:sp>
        <p:nvSpPr>
          <p:cNvPr id="41" name="TextBox 40"/>
          <p:cNvSpPr txBox="1"/>
          <p:nvPr/>
        </p:nvSpPr>
        <p:spPr>
          <a:xfrm>
            <a:off x="3108960" y="4937759"/>
            <a:ext cx="2286000" cy="228600"/>
          </a:xfrm>
          <a:prstGeom prst="rect">
            <a:avLst/>
          </a:prstGeom>
          <a:noFill/>
        </p:spPr>
        <p:txBody>
          <a:bodyPr wrap="square" lIns="0" rIns="0" tIns="0" bIns="0" anchor="t">
            <a:noAutofit/>
          </a:bodyPr>
          <a:lstStyle/>
          <a:p>
            <a:pPr algn="l">
              <a:spcAft>
                <a:spcPts val="0"/>
              </a:spcAft>
            </a:pPr>
            <a:r>
              <a:rPr sz="1000" b="0" i="0">
                <a:solidFill>
                  <a:srgbClr val="1E293B"/>
                </a:solidFill>
                <a:latin typeface="Calibri"/>
              </a:rPr>
              <a:t>A.  Mitochondrion</a:t>
            </a:r>
            <a:r>
              <a:rPr sz="1000" b="1" i="0">
                <a:solidFill>
                  <a:srgbClr val="047857"/>
                </a:solidFill>
                <a:latin typeface="Calibri"/>
              </a:rPr>
              <a:t/>
            </a:r>
          </a:p>
        </p:txBody>
      </p:sp>
      <p:sp>
        <p:nvSpPr>
          <p:cNvPr id="42" name="TextBox 41"/>
          <p:cNvSpPr txBox="1"/>
          <p:nvPr/>
        </p:nvSpPr>
        <p:spPr>
          <a:xfrm>
            <a:off x="5486400" y="4937759"/>
            <a:ext cx="2286000" cy="228600"/>
          </a:xfrm>
          <a:prstGeom prst="rect">
            <a:avLst/>
          </a:prstGeom>
          <a:noFill/>
        </p:spPr>
        <p:txBody>
          <a:bodyPr wrap="square" lIns="0" rIns="0" tIns="0" bIns="0" anchor="t">
            <a:noAutofit/>
          </a:bodyPr>
          <a:lstStyle/>
          <a:p>
            <a:pPr algn="l">
              <a:spcAft>
                <a:spcPts val="0"/>
              </a:spcAft>
            </a:pPr>
            <a:r>
              <a:rPr sz="1000" b="1" i="0">
                <a:solidFill>
                  <a:srgbClr val="047857"/>
                </a:solidFill>
                <a:latin typeface="Calibri"/>
              </a:rPr>
              <a:t>B.  Chloroplast</a:t>
            </a:r>
            <a:r>
              <a:rPr sz="1000" b="1" i="0">
                <a:solidFill>
                  <a:srgbClr val="047857"/>
                </a:solidFill>
                <a:latin typeface="Calibri"/>
              </a:rPr>
              <a:t>  (correct)</a:t>
            </a:r>
          </a:p>
        </p:txBody>
      </p:sp>
      <p:sp>
        <p:nvSpPr>
          <p:cNvPr id="43" name="TextBox 42"/>
          <p:cNvSpPr txBox="1"/>
          <p:nvPr/>
        </p:nvSpPr>
        <p:spPr>
          <a:xfrm>
            <a:off x="3108960" y="5166359"/>
            <a:ext cx="2286000" cy="228600"/>
          </a:xfrm>
          <a:prstGeom prst="rect">
            <a:avLst/>
          </a:prstGeom>
          <a:noFill/>
        </p:spPr>
        <p:txBody>
          <a:bodyPr wrap="square" lIns="0" rIns="0" tIns="0" bIns="0" anchor="t">
            <a:noAutofit/>
          </a:bodyPr>
          <a:lstStyle/>
          <a:p>
            <a:pPr algn="l">
              <a:spcAft>
                <a:spcPts val="0"/>
              </a:spcAft>
            </a:pPr>
            <a:r>
              <a:rPr sz="1000" b="0" i="0">
                <a:solidFill>
                  <a:srgbClr val="1E293B"/>
                </a:solidFill>
                <a:latin typeface="Calibri"/>
              </a:rPr>
              <a:t>C.  Nucleus</a:t>
            </a:r>
            <a:r>
              <a:rPr sz="1000" b="1" i="0">
                <a:solidFill>
                  <a:srgbClr val="047857"/>
                </a:solidFill>
                <a:latin typeface="Calibri"/>
              </a:rPr>
              <a:t/>
            </a:r>
          </a:p>
        </p:txBody>
      </p:sp>
      <p:sp>
        <p:nvSpPr>
          <p:cNvPr id="44" name="TextBox 43"/>
          <p:cNvSpPr txBox="1"/>
          <p:nvPr/>
        </p:nvSpPr>
        <p:spPr>
          <a:xfrm>
            <a:off x="5486400" y="5166359"/>
            <a:ext cx="2286000" cy="228600"/>
          </a:xfrm>
          <a:prstGeom prst="rect">
            <a:avLst/>
          </a:prstGeom>
          <a:noFill/>
        </p:spPr>
        <p:txBody>
          <a:bodyPr wrap="square" lIns="0" rIns="0" tIns="0" bIns="0" anchor="t">
            <a:noAutofit/>
          </a:bodyPr>
          <a:lstStyle/>
          <a:p>
            <a:pPr algn="l">
              <a:spcAft>
                <a:spcPts val="0"/>
              </a:spcAft>
            </a:pPr>
            <a:r>
              <a:rPr sz="1000" b="0" i="0">
                <a:solidFill>
                  <a:srgbClr val="1E293B"/>
                </a:solidFill>
                <a:latin typeface="Calibri"/>
              </a:rPr>
              <a:t>D.  Ribosome</a:t>
            </a:r>
            <a:r>
              <a:rPr sz="1000" b="1" i="0">
                <a:solidFill>
                  <a:srgbClr val="047857"/>
                </a:solidFill>
                <a:latin typeface="Calibri"/>
              </a:rPr>
              <a:t/>
            </a:r>
          </a:p>
        </p:txBody>
      </p:sp>
      <p:sp>
        <p:nvSpPr>
          <p:cNvPr id="45" name="TextBox 44"/>
          <p:cNvSpPr txBox="1"/>
          <p:nvPr/>
        </p:nvSpPr>
        <p:spPr>
          <a:xfrm>
            <a:off x="3108960" y="5385816"/>
            <a:ext cx="4937760" cy="201168"/>
          </a:xfrm>
          <a:prstGeom prst="rect">
            <a:avLst/>
          </a:prstGeom>
          <a:noFill/>
        </p:spPr>
        <p:txBody>
          <a:bodyPr wrap="square" lIns="0" rIns="0" tIns="0" bIns="0" anchor="t">
            <a:noAutofit/>
          </a:bodyPr>
          <a:lstStyle/>
          <a:p>
            <a:pPr algn="l">
              <a:spcAft>
                <a:spcPts val="0"/>
              </a:spcAft>
            </a:pPr>
            <a:r>
              <a:rPr sz="1000" b="0" i="1">
                <a:solidFill>
                  <a:srgbClr val="5B677A"/>
                </a:solidFill>
                <a:latin typeface="Calibri"/>
              </a:rPr>
              <a:t>Explanation: chloroplasts contain chlorophyll, which captures light energy.</a:t>
            </a:r>
          </a:p>
        </p:txBody>
      </p:sp>
      <p:sp>
        <p:nvSpPr>
          <p:cNvPr id="46" name="TextBox 45"/>
          <p:cNvSpPr txBox="1"/>
          <p:nvPr/>
        </p:nvSpPr>
        <p:spPr>
          <a:xfrm>
            <a:off x="2971800" y="5733288"/>
            <a:ext cx="2377440" cy="347472"/>
          </a:xfrm>
          <a:prstGeom prst="rect">
            <a:avLst/>
          </a:prstGeom>
          <a:noFill/>
        </p:spPr>
        <p:txBody>
          <a:bodyPr wrap="square" lIns="0" rIns="0" tIns="0" bIns="0" anchor="ctr">
            <a:noAutofit/>
          </a:bodyPr>
          <a:lstStyle/>
          <a:p>
            <a:pPr algn="l">
              <a:spcAft>
                <a:spcPts val="0"/>
              </a:spcAft>
            </a:pPr>
            <a:r>
              <a:rPr sz="1000" b="0" i="0">
                <a:solidFill>
                  <a:srgbClr val="5B677A"/>
                </a:solidFill>
                <a:latin typeface="Calibri"/>
              </a:rPr>
              <a:t>Each item links to its source page</a:t>
            </a:r>
          </a:p>
        </p:txBody>
      </p:sp>
      <p:sp>
        <p:nvSpPr>
          <p:cNvPr id="47" name="Rounded Rectangle 46"/>
          <p:cNvSpPr/>
          <p:nvPr/>
        </p:nvSpPr>
        <p:spPr>
          <a:xfrm>
            <a:off x="5349240" y="5733288"/>
            <a:ext cx="1188720" cy="347472"/>
          </a:xfrm>
          <a:prstGeom prst="roundRect">
            <a:avLst>
              <a:gd name="adj" fmla="val 25000"/>
            </a:avLst>
          </a:prstGeom>
          <a:solidFill>
            <a:srgbClr val="FFFFFF"/>
          </a:solidFill>
          <a:ln w="12700">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100" b="1" i="0">
                <a:solidFill>
                  <a:srgbClr val="0B1F3A"/>
                </a:solidFill>
                <a:latin typeface="Calibri"/>
              </a:rPr>
              <a:t>Edit lesson</a:t>
            </a:r>
          </a:p>
        </p:txBody>
      </p:sp>
      <p:sp>
        <p:nvSpPr>
          <p:cNvPr id="48" name="Rounded Rectangle 47"/>
          <p:cNvSpPr/>
          <p:nvPr/>
        </p:nvSpPr>
        <p:spPr>
          <a:xfrm>
            <a:off x="6629400" y="5733288"/>
            <a:ext cx="1554480" cy="347472"/>
          </a:xfrm>
          <a:prstGeom prst="roundRect">
            <a:avLst>
              <a:gd name="adj" fmla="val 25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100" b="1" i="0">
                <a:solidFill>
                  <a:srgbClr val="FFFFFF"/>
                </a:solidFill>
                <a:latin typeface="Calibri"/>
              </a:rPr>
              <a:t>Approve after review</a:t>
            </a:r>
          </a:p>
        </p:txBody>
      </p:sp>
      <p:sp>
        <p:nvSpPr>
          <p:cNvPr id="49" name="Rounded Rectangle 48"/>
          <p:cNvSpPr/>
          <p:nvPr/>
        </p:nvSpPr>
        <p:spPr>
          <a:xfrm>
            <a:off x="8641080" y="1737360"/>
            <a:ext cx="2999232" cy="4526280"/>
          </a:xfrm>
          <a:prstGeom prst="roundRect">
            <a:avLst>
              <a:gd name="adj" fmla="val 10000"/>
            </a:avLst>
          </a:prstGeom>
          <a:solidFill>
            <a:srgbClr val="F2F5F9"/>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0" y="1938528"/>
            <a:ext cx="2651760" cy="365760"/>
          </a:xfrm>
          <a:prstGeom prst="rect">
            <a:avLst/>
          </a:prstGeom>
          <a:noFill/>
        </p:spPr>
        <p:txBody>
          <a:bodyPr wrap="square" lIns="0" rIns="0" tIns="0" bIns="0" anchor="t">
            <a:noAutofit/>
          </a:bodyPr>
          <a:lstStyle/>
          <a:p>
            <a:pPr algn="l">
              <a:spcAft>
                <a:spcPts val="0"/>
              </a:spcAft>
            </a:pPr>
            <a:r>
              <a:rPr sz="1800" b="1" i="0">
                <a:solidFill>
                  <a:srgbClr val="0B1F3A"/>
                </a:solidFill>
                <a:latin typeface="Calibri"/>
              </a:rPr>
              <a:t>Intended MVP scope</a:t>
            </a:r>
          </a:p>
        </p:txBody>
      </p:sp>
      <p:sp>
        <p:nvSpPr>
          <p:cNvPr id="51" name="Oval 50"/>
          <p:cNvSpPr/>
          <p:nvPr/>
        </p:nvSpPr>
        <p:spPr>
          <a:xfrm>
            <a:off x="8869680" y="2465832"/>
            <a:ext cx="237744" cy="237744"/>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000" b="1" i="0">
                <a:solidFill>
                  <a:srgbClr val="FFFFFF"/>
                </a:solidFill>
                <a:latin typeface="Segoe UI Symbol"/>
              </a:rPr>
              <a:t>✓</a:t>
            </a:r>
          </a:p>
        </p:txBody>
      </p:sp>
      <p:sp>
        <p:nvSpPr>
          <p:cNvPr id="52" name="TextBox 51"/>
          <p:cNvSpPr txBox="1"/>
          <p:nvPr/>
        </p:nvSpPr>
        <p:spPr>
          <a:xfrm>
            <a:off x="9235440" y="2468880"/>
            <a:ext cx="2285999" cy="420624"/>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One textbook chapter</a:t>
            </a:r>
          </a:p>
        </p:txBody>
      </p:sp>
      <p:sp>
        <p:nvSpPr>
          <p:cNvPr id="53" name="Oval 52"/>
          <p:cNvSpPr/>
          <p:nvPr/>
        </p:nvSpPr>
        <p:spPr>
          <a:xfrm>
            <a:off x="8869680" y="2886456"/>
            <a:ext cx="237744" cy="237744"/>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000" b="1" i="0">
                <a:solidFill>
                  <a:srgbClr val="FFFFFF"/>
                </a:solidFill>
                <a:latin typeface="Segoe UI Symbol"/>
              </a:rPr>
              <a:t>✓</a:t>
            </a:r>
          </a:p>
        </p:txBody>
      </p:sp>
      <p:sp>
        <p:nvSpPr>
          <p:cNvPr id="54" name="TextBox 53"/>
          <p:cNvSpPr txBox="1"/>
          <p:nvPr/>
        </p:nvSpPr>
        <p:spPr>
          <a:xfrm>
            <a:off x="9235440" y="2889504"/>
            <a:ext cx="2285999" cy="420624"/>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Five generated lessons</a:t>
            </a:r>
          </a:p>
        </p:txBody>
      </p:sp>
      <p:sp>
        <p:nvSpPr>
          <p:cNvPr id="55" name="Oval 54"/>
          <p:cNvSpPr/>
          <p:nvPr/>
        </p:nvSpPr>
        <p:spPr>
          <a:xfrm>
            <a:off x="8869680" y="3307080"/>
            <a:ext cx="237744" cy="237744"/>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000" b="1" i="0">
                <a:solidFill>
                  <a:srgbClr val="FFFFFF"/>
                </a:solidFill>
                <a:latin typeface="Segoe UI Symbol"/>
              </a:rPr>
              <a:t>✓</a:t>
            </a:r>
          </a:p>
        </p:txBody>
      </p:sp>
      <p:sp>
        <p:nvSpPr>
          <p:cNvPr id="56" name="TextBox 55"/>
          <p:cNvSpPr txBox="1"/>
          <p:nvPr/>
        </p:nvSpPr>
        <p:spPr>
          <a:xfrm>
            <a:off x="9235440" y="3310128"/>
            <a:ext cx="2285999" cy="420624"/>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Learning objectives</a:t>
            </a:r>
          </a:p>
        </p:txBody>
      </p:sp>
      <p:sp>
        <p:nvSpPr>
          <p:cNvPr id="57" name="Oval 56"/>
          <p:cNvSpPr/>
          <p:nvPr/>
        </p:nvSpPr>
        <p:spPr>
          <a:xfrm>
            <a:off x="8869680" y="3727703"/>
            <a:ext cx="237744" cy="237744"/>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000" b="1" i="0">
                <a:solidFill>
                  <a:srgbClr val="FFFFFF"/>
                </a:solidFill>
                <a:latin typeface="Segoe UI Symbol"/>
              </a:rPr>
              <a:t>✓</a:t>
            </a:r>
          </a:p>
        </p:txBody>
      </p:sp>
      <p:sp>
        <p:nvSpPr>
          <p:cNvPr id="58" name="TextBox 57"/>
          <p:cNvSpPr txBox="1"/>
          <p:nvPr/>
        </p:nvSpPr>
        <p:spPr>
          <a:xfrm>
            <a:off x="9235440" y="3730752"/>
            <a:ext cx="2285999" cy="420624"/>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Practice questions and quizzes</a:t>
            </a:r>
          </a:p>
        </p:txBody>
      </p:sp>
      <p:sp>
        <p:nvSpPr>
          <p:cNvPr id="59" name="Oval 58"/>
          <p:cNvSpPr/>
          <p:nvPr/>
        </p:nvSpPr>
        <p:spPr>
          <a:xfrm>
            <a:off x="8869680" y="4148327"/>
            <a:ext cx="237744" cy="237744"/>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000" b="1" i="0">
                <a:solidFill>
                  <a:srgbClr val="FFFFFF"/>
                </a:solidFill>
                <a:latin typeface="Segoe UI Symbol"/>
              </a:rPr>
              <a:t>✓</a:t>
            </a:r>
          </a:p>
        </p:txBody>
      </p:sp>
      <p:sp>
        <p:nvSpPr>
          <p:cNvPr id="60" name="TextBox 59"/>
          <p:cNvSpPr txBox="1"/>
          <p:nvPr/>
        </p:nvSpPr>
        <p:spPr>
          <a:xfrm>
            <a:off x="9235440" y="4151376"/>
            <a:ext cx="2285999" cy="420624"/>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Source-page references</a:t>
            </a:r>
          </a:p>
        </p:txBody>
      </p:sp>
      <p:sp>
        <p:nvSpPr>
          <p:cNvPr id="61" name="Oval 60"/>
          <p:cNvSpPr/>
          <p:nvPr/>
        </p:nvSpPr>
        <p:spPr>
          <a:xfrm>
            <a:off x="8869680" y="4568951"/>
            <a:ext cx="237744" cy="237744"/>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000" b="1" i="0">
                <a:solidFill>
                  <a:srgbClr val="FFFFFF"/>
                </a:solidFill>
                <a:latin typeface="Segoe UI Symbol"/>
              </a:rPr>
              <a:t>✓</a:t>
            </a:r>
          </a:p>
        </p:txBody>
      </p:sp>
      <p:sp>
        <p:nvSpPr>
          <p:cNvPr id="62" name="TextBox 61"/>
          <p:cNvSpPr txBox="1"/>
          <p:nvPr/>
        </p:nvSpPr>
        <p:spPr>
          <a:xfrm>
            <a:off x="9235440" y="4572000"/>
            <a:ext cx="2285999" cy="420624"/>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Teacher review before use</a:t>
            </a:r>
          </a:p>
        </p:txBody>
      </p:sp>
      <p:sp>
        <p:nvSpPr>
          <p:cNvPr id="63" name="Rounded Rectangle 62"/>
          <p:cNvSpPr/>
          <p:nvPr/>
        </p:nvSpPr>
        <p:spPr>
          <a:xfrm>
            <a:off x="8823960" y="5166360"/>
            <a:ext cx="2633472" cy="914400"/>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spcAft>
                <a:spcPts val="0"/>
              </a:spcAft>
            </a:pPr>
            <a:r>
              <a:rPr sz="1300" b="1" i="0">
                <a:solidFill>
                  <a:srgbClr val="FFFFFF"/>
                </a:solidFill>
                <a:latin typeface="Calibri"/>
              </a:rPr>
              <a:t>Goal: demonstrate this workflow as working software at the hackathon.</a:t>
            </a:r>
          </a:p>
        </p:txBody>
      </p:sp>
      <p:sp>
        <p:nvSpPr>
          <p:cNvPr id="64" name="TextBox 63"/>
          <p:cNvSpPr txBox="1"/>
          <p:nvPr/>
        </p:nvSpPr>
        <p:spPr>
          <a:xfrm>
            <a:off x="548640" y="6428232"/>
            <a:ext cx="5486400" cy="274320"/>
          </a:xfrm>
          <a:prstGeom prst="rect">
            <a:avLst/>
          </a:prstGeom>
          <a:noFill/>
        </p:spPr>
        <p:txBody>
          <a:bodyPr wrap="square" lIns="0" rIns="0" tIns="0" bIns="0" anchor="t">
            <a:noAutofit/>
          </a:bodyPr>
          <a:lstStyle/>
          <a:p>
            <a:pPr algn="l">
              <a:spcAft>
                <a:spcPts val="0"/>
              </a:spcAft>
            </a:pPr>
            <a:r>
              <a:rPr sz="1000" b="0" i="0">
                <a:solidFill>
                  <a:srgbClr val="5B677A"/>
                </a:solidFill>
                <a:latin typeface="Calibri"/>
              </a:rPr>
              <a:t>Project Axiora  |  CourseForge AI  |  Team KayCode</a:t>
            </a:r>
          </a:p>
        </p:txBody>
      </p:sp>
      <p:sp>
        <p:nvSpPr>
          <p:cNvPr id="65" name="TextBox 64"/>
          <p:cNvSpPr txBox="1"/>
          <p:nvPr/>
        </p:nvSpPr>
        <p:spPr>
          <a:xfrm>
            <a:off x="9811512" y="6428232"/>
            <a:ext cx="1828800" cy="274320"/>
          </a:xfrm>
          <a:prstGeom prst="rect">
            <a:avLst/>
          </a:prstGeom>
          <a:noFill/>
        </p:spPr>
        <p:txBody>
          <a:bodyPr wrap="square" lIns="0" rIns="0" tIns="0" bIns="0" anchor="t">
            <a:noAutofit/>
          </a:bodyPr>
          <a:lstStyle/>
          <a:p>
            <a:pPr algn="r">
              <a:spcAft>
                <a:spcPts val="0"/>
              </a:spcAft>
            </a:pPr>
            <a:r>
              <a:rPr sz="1000" b="0" i="0">
                <a:solidFill>
                  <a:srgbClr val="5B677A"/>
                </a:solidFill>
                <a:latin typeface="Calibri"/>
              </a:rP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74320"/>
          </a:xfrm>
          <a:prstGeom prst="rect">
            <a:avLst/>
          </a:prstGeom>
          <a:noFill/>
        </p:spPr>
        <p:txBody>
          <a:bodyPr wrap="square" lIns="0" rIns="0" tIns="0" bIns="0" anchor="t">
            <a:noAutofit/>
          </a:bodyPr>
          <a:lstStyle/>
          <a:p>
            <a:pPr algn="l">
              <a:spcAft>
                <a:spcPts val="0"/>
              </a:spcAft>
            </a:pPr>
            <a:r>
              <a:rPr sz="1300" b="1" i="0">
                <a:solidFill>
                  <a:srgbClr val="047857"/>
                </a:solidFill>
                <a:latin typeface="Calibri"/>
              </a:rPr>
              <a:t>SDG ALIGNMENT AND IMPACT</a:t>
            </a:r>
          </a:p>
        </p:txBody>
      </p:sp>
      <p:sp>
        <p:nvSpPr>
          <p:cNvPr id="3" name="TextBox 2"/>
          <p:cNvSpPr txBox="1"/>
          <p:nvPr/>
        </p:nvSpPr>
        <p:spPr>
          <a:xfrm>
            <a:off x="548640" y="603504"/>
            <a:ext cx="11064240" cy="640080"/>
          </a:xfrm>
          <a:prstGeom prst="rect">
            <a:avLst/>
          </a:prstGeom>
          <a:noFill/>
        </p:spPr>
        <p:txBody>
          <a:bodyPr wrap="square" lIns="0" rIns="0" tIns="0" bIns="0" anchor="t">
            <a:noAutofit/>
          </a:bodyPr>
          <a:lstStyle/>
          <a:p>
            <a:pPr algn="l">
              <a:spcAft>
                <a:spcPts val="0"/>
              </a:spcAft>
            </a:pPr>
            <a:r>
              <a:rPr sz="3400" b="1" i="0">
                <a:solidFill>
                  <a:srgbClr val="0B1F3A"/>
                </a:solidFill>
                <a:latin typeface="Calibri"/>
              </a:rPr>
              <a:t>Supporting SDG 4: Quality Education</a:t>
            </a:r>
          </a:p>
        </p:txBody>
      </p:sp>
      <p:sp>
        <p:nvSpPr>
          <p:cNvPr id="4" name="Rounded Rectangle 3"/>
          <p:cNvSpPr/>
          <p:nvPr/>
        </p:nvSpPr>
        <p:spPr>
          <a:xfrm>
            <a:off x="548640" y="1463040"/>
            <a:ext cx="3383280" cy="4754880"/>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2743200" cy="1188720"/>
          </a:xfrm>
          <a:prstGeom prst="rect">
            <a:avLst/>
          </a:prstGeom>
          <a:noFill/>
        </p:spPr>
        <p:txBody>
          <a:bodyPr wrap="square" lIns="0" rIns="0" tIns="0" bIns="0" anchor="t">
            <a:noAutofit/>
          </a:bodyPr>
          <a:lstStyle/>
          <a:p>
            <a:pPr algn="l">
              <a:spcAft>
                <a:spcPts val="0"/>
              </a:spcAft>
            </a:pPr>
            <a:r>
              <a:rPr sz="8800" b="1" i="0">
                <a:solidFill>
                  <a:srgbClr val="10B981"/>
                </a:solidFill>
                <a:latin typeface="Calibri"/>
              </a:rPr>
              <a:t>4</a:t>
            </a:r>
          </a:p>
        </p:txBody>
      </p:sp>
      <p:sp>
        <p:nvSpPr>
          <p:cNvPr id="6" name="TextBox 5"/>
          <p:cNvSpPr txBox="1"/>
          <p:nvPr/>
        </p:nvSpPr>
        <p:spPr>
          <a:xfrm>
            <a:off x="868680" y="2834640"/>
            <a:ext cx="2743200" cy="365760"/>
          </a:xfrm>
          <a:prstGeom prst="rect">
            <a:avLst/>
          </a:prstGeom>
          <a:noFill/>
        </p:spPr>
        <p:txBody>
          <a:bodyPr wrap="square" lIns="0" rIns="0" tIns="0" bIns="0" anchor="t">
            <a:noAutofit/>
          </a:bodyPr>
          <a:lstStyle/>
          <a:p>
            <a:pPr algn="l">
              <a:spcAft>
                <a:spcPts val="0"/>
              </a:spcAft>
            </a:pPr>
            <a:r>
              <a:rPr sz="2000" b="1" i="0">
                <a:solidFill>
                  <a:srgbClr val="FFFFFF"/>
                </a:solidFill>
                <a:latin typeface="Calibri"/>
              </a:rPr>
              <a:t>QUALITY EDUCATION</a:t>
            </a:r>
          </a:p>
        </p:txBody>
      </p:sp>
      <p:sp>
        <p:nvSpPr>
          <p:cNvPr id="7" name="TextBox 6"/>
          <p:cNvSpPr txBox="1"/>
          <p:nvPr/>
        </p:nvSpPr>
        <p:spPr>
          <a:xfrm>
            <a:off x="868680" y="3337560"/>
            <a:ext cx="2788920" cy="1737360"/>
          </a:xfrm>
          <a:prstGeom prst="rect">
            <a:avLst/>
          </a:prstGeom>
          <a:noFill/>
        </p:spPr>
        <p:txBody>
          <a:bodyPr wrap="square" lIns="0" rIns="0" tIns="0" bIns="0" anchor="t">
            <a:noAutofit/>
          </a:bodyPr>
          <a:lstStyle/>
          <a:p>
            <a:pPr algn="l">
              <a:spcAft>
                <a:spcPts val="0"/>
              </a:spcAft>
            </a:pPr>
            <a:r>
              <a:rPr sz="1500" b="0" i="1">
                <a:solidFill>
                  <a:srgbClr val="C9D6EA"/>
                </a:solidFill>
                <a:latin typeface="Calibri"/>
              </a:rPr>
              <a:t>“Ensure inclusive and equitable quality education and promote lifelong learning opportunities for all.”</a:t>
            </a:r>
          </a:p>
        </p:txBody>
      </p:sp>
      <p:sp>
        <p:nvSpPr>
          <p:cNvPr id="8" name="TextBox 7"/>
          <p:cNvSpPr txBox="1"/>
          <p:nvPr/>
        </p:nvSpPr>
        <p:spPr>
          <a:xfrm>
            <a:off x="868680" y="5623560"/>
            <a:ext cx="2788920" cy="411480"/>
          </a:xfrm>
          <a:prstGeom prst="rect">
            <a:avLst/>
          </a:prstGeom>
          <a:noFill/>
        </p:spPr>
        <p:txBody>
          <a:bodyPr wrap="square" lIns="0" rIns="0" tIns="0" bIns="0" anchor="t">
            <a:noAutofit/>
          </a:bodyPr>
          <a:lstStyle/>
          <a:p>
            <a:pPr algn="l">
              <a:spcAft>
                <a:spcPts val="0"/>
              </a:spcAft>
            </a:pPr>
            <a:r>
              <a:rPr sz="1000" b="0" i="0">
                <a:solidFill>
                  <a:srgbClr val="C9D6EA"/>
                </a:solidFill>
                <a:latin typeface="Calibri"/>
              </a:rPr>
              <a:t>Source: United Nations, sdgs.un.org/goals/goal4</a:t>
            </a:r>
          </a:p>
        </p:txBody>
      </p:sp>
      <p:sp>
        <p:nvSpPr>
          <p:cNvPr id="9" name="TextBox 8"/>
          <p:cNvSpPr txBox="1"/>
          <p:nvPr/>
        </p:nvSpPr>
        <p:spPr>
          <a:xfrm>
            <a:off x="4206240" y="1463040"/>
            <a:ext cx="7434072" cy="365760"/>
          </a:xfrm>
          <a:prstGeom prst="rect">
            <a:avLst/>
          </a:prstGeom>
          <a:noFill/>
        </p:spPr>
        <p:txBody>
          <a:bodyPr wrap="square" lIns="0" rIns="0" tIns="0" bIns="0" anchor="t">
            <a:noAutofit/>
          </a:bodyPr>
          <a:lstStyle/>
          <a:p>
            <a:pPr algn="l">
              <a:spcAft>
                <a:spcPts val="0"/>
              </a:spcAft>
            </a:pPr>
            <a:r>
              <a:rPr sz="1800" b="1" i="0">
                <a:solidFill>
                  <a:srgbClr val="0B1F3A"/>
                </a:solidFill>
                <a:latin typeface="Calibri"/>
              </a:rPr>
              <a:t>Intended benefits</a:t>
            </a:r>
          </a:p>
        </p:txBody>
      </p:sp>
      <p:sp>
        <p:nvSpPr>
          <p:cNvPr id="10" name="Rounded Rectangle 9"/>
          <p:cNvSpPr/>
          <p:nvPr/>
        </p:nvSpPr>
        <p:spPr>
          <a:xfrm>
            <a:off x="4206240" y="1920240"/>
            <a:ext cx="2325624" cy="1463040"/>
          </a:xfrm>
          <a:prstGeom prst="roundRect">
            <a:avLst>
              <a:gd name="adj" fmla="val 10000"/>
            </a:avLst>
          </a:prstGeom>
          <a:solidFill>
            <a:srgbClr val="E6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07407" y="2011680"/>
            <a:ext cx="1923288" cy="530352"/>
          </a:xfrm>
          <a:prstGeom prst="rect">
            <a:avLst/>
          </a:prstGeom>
          <a:noFill/>
        </p:spPr>
        <p:txBody>
          <a:bodyPr wrap="square" lIns="0" rIns="0" tIns="0" bIns="0" anchor="b">
            <a:noAutofit/>
          </a:bodyPr>
          <a:lstStyle/>
          <a:p>
            <a:pPr algn="l">
              <a:spcAft>
                <a:spcPts val="0"/>
              </a:spcAft>
            </a:pPr>
            <a:r>
              <a:rPr sz="1600" b="1" i="0">
                <a:solidFill>
                  <a:srgbClr val="0B1F3A"/>
                </a:solidFill>
                <a:latin typeface="Calibri"/>
              </a:rPr>
              <a:t>Less manual effort</a:t>
            </a:r>
          </a:p>
        </p:txBody>
      </p:sp>
      <p:sp>
        <p:nvSpPr>
          <p:cNvPr id="12" name="TextBox 11"/>
          <p:cNvSpPr txBox="1"/>
          <p:nvPr/>
        </p:nvSpPr>
        <p:spPr>
          <a:xfrm>
            <a:off x="4407407" y="2606040"/>
            <a:ext cx="1923288" cy="731520"/>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Teachers start from a structured first draft</a:t>
            </a:r>
          </a:p>
        </p:txBody>
      </p:sp>
      <p:sp>
        <p:nvSpPr>
          <p:cNvPr id="13" name="Rounded Rectangle 12"/>
          <p:cNvSpPr/>
          <p:nvPr/>
        </p:nvSpPr>
        <p:spPr>
          <a:xfrm>
            <a:off x="6760463" y="1920240"/>
            <a:ext cx="2325624" cy="1463040"/>
          </a:xfrm>
          <a:prstGeom prst="roundRect">
            <a:avLst>
              <a:gd name="adj" fmla="val 10000"/>
            </a:avLst>
          </a:prstGeom>
          <a:solidFill>
            <a:srgbClr val="E6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61631" y="2011680"/>
            <a:ext cx="1923288" cy="530352"/>
          </a:xfrm>
          <a:prstGeom prst="rect">
            <a:avLst/>
          </a:prstGeom>
          <a:noFill/>
        </p:spPr>
        <p:txBody>
          <a:bodyPr wrap="square" lIns="0" rIns="0" tIns="0" bIns="0" anchor="b">
            <a:noAutofit/>
          </a:bodyPr>
          <a:lstStyle/>
          <a:p>
            <a:pPr algn="l">
              <a:spcAft>
                <a:spcPts val="0"/>
              </a:spcAft>
            </a:pPr>
            <a:r>
              <a:rPr sz="1600" b="1" i="0">
                <a:solidFill>
                  <a:srgbClr val="0B1F3A"/>
                </a:solidFill>
                <a:latin typeface="Calibri"/>
              </a:rPr>
              <a:t>Reuse existing textbooks</a:t>
            </a:r>
          </a:p>
        </p:txBody>
      </p:sp>
      <p:sp>
        <p:nvSpPr>
          <p:cNvPr id="15" name="TextBox 14"/>
          <p:cNvSpPr txBox="1"/>
          <p:nvPr/>
        </p:nvSpPr>
        <p:spPr>
          <a:xfrm>
            <a:off x="6961631" y="2606040"/>
            <a:ext cx="1923288" cy="731520"/>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Chapters schools already have become digital lessons</a:t>
            </a:r>
          </a:p>
        </p:txBody>
      </p:sp>
      <p:sp>
        <p:nvSpPr>
          <p:cNvPr id="16" name="Rounded Rectangle 15"/>
          <p:cNvSpPr/>
          <p:nvPr/>
        </p:nvSpPr>
        <p:spPr>
          <a:xfrm>
            <a:off x="9314688" y="1920240"/>
            <a:ext cx="2325624" cy="1463040"/>
          </a:xfrm>
          <a:prstGeom prst="roundRect">
            <a:avLst>
              <a:gd name="adj" fmla="val 10000"/>
            </a:avLst>
          </a:prstGeom>
          <a:solidFill>
            <a:srgbClr val="E6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15856" y="2011680"/>
            <a:ext cx="1923288" cy="530352"/>
          </a:xfrm>
          <a:prstGeom prst="rect">
            <a:avLst/>
          </a:prstGeom>
          <a:noFill/>
        </p:spPr>
        <p:txBody>
          <a:bodyPr wrap="square" lIns="0" rIns="0" tIns="0" bIns="0" anchor="b">
            <a:noAutofit/>
          </a:bodyPr>
          <a:lstStyle/>
          <a:p>
            <a:pPr algn="l">
              <a:spcAft>
                <a:spcPts val="0"/>
              </a:spcAft>
            </a:pPr>
            <a:r>
              <a:rPr sz="1600" b="1" i="0">
                <a:solidFill>
                  <a:srgbClr val="0B1F3A"/>
                </a:solidFill>
                <a:latin typeface="Calibri"/>
              </a:rPr>
              <a:t>More accessible resources</a:t>
            </a:r>
          </a:p>
        </p:txBody>
      </p:sp>
      <p:sp>
        <p:nvSpPr>
          <p:cNvPr id="18" name="TextBox 17"/>
          <p:cNvSpPr txBox="1"/>
          <p:nvPr/>
        </p:nvSpPr>
        <p:spPr>
          <a:xfrm>
            <a:off x="9515856" y="2606040"/>
            <a:ext cx="1923288" cy="731520"/>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Organized lessons and quizzes students can follow</a:t>
            </a:r>
          </a:p>
        </p:txBody>
      </p:sp>
      <p:sp>
        <p:nvSpPr>
          <p:cNvPr id="19" name="TextBox 18"/>
          <p:cNvSpPr txBox="1"/>
          <p:nvPr/>
        </p:nvSpPr>
        <p:spPr>
          <a:xfrm>
            <a:off x="4206240" y="3657600"/>
            <a:ext cx="4114800" cy="365760"/>
          </a:xfrm>
          <a:prstGeom prst="rect">
            <a:avLst/>
          </a:prstGeom>
          <a:noFill/>
        </p:spPr>
        <p:txBody>
          <a:bodyPr wrap="square" lIns="0" rIns="0" tIns="0" bIns="0" anchor="t">
            <a:noAutofit/>
          </a:bodyPr>
          <a:lstStyle/>
          <a:p>
            <a:pPr algn="l">
              <a:spcAft>
                <a:spcPts val="0"/>
              </a:spcAft>
            </a:pPr>
            <a:r>
              <a:rPr sz="1800" b="1" i="0">
                <a:solidFill>
                  <a:srgbClr val="0B1F3A"/>
                </a:solidFill>
                <a:latin typeface="Calibri"/>
              </a:rPr>
              <a:t>Planned evaluation metrics</a:t>
            </a:r>
          </a:p>
        </p:txBody>
      </p:sp>
      <p:sp>
        <p:nvSpPr>
          <p:cNvPr id="20" name="Rounded Rectangle 19"/>
          <p:cNvSpPr/>
          <p:nvPr/>
        </p:nvSpPr>
        <p:spPr>
          <a:xfrm>
            <a:off x="9125712" y="3685032"/>
            <a:ext cx="2514600" cy="329184"/>
          </a:xfrm>
          <a:prstGeom prst="roundRect">
            <a:avLst>
              <a:gd name="adj" fmla="val 50000"/>
            </a:avLst>
          </a:prstGeom>
          <a:noFill/>
          <a:ln w="15875">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200" b="1" i="0">
                <a:solidFill>
                  <a:srgbClr val="047857"/>
                </a:solidFill>
                <a:latin typeface="Calibri"/>
              </a:rPr>
              <a:t>Planned, not yet measured</a:t>
            </a:r>
          </a:p>
        </p:txBody>
      </p:sp>
      <p:sp>
        <p:nvSpPr>
          <p:cNvPr id="21" name="Rounded Rectangle 20"/>
          <p:cNvSpPr/>
          <p:nvPr/>
        </p:nvSpPr>
        <p:spPr>
          <a:xfrm>
            <a:off x="4206240" y="4160520"/>
            <a:ext cx="2325624" cy="2057400"/>
          </a:xfrm>
          <a:prstGeom prst="roundRect">
            <a:avLst>
              <a:gd name="adj" fmla="val 10000"/>
            </a:avLst>
          </a:prstGeom>
          <a:solidFill>
            <a:srgbClr val="F2F5F9"/>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407407" y="4343400"/>
            <a:ext cx="420624" cy="420624"/>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600" b="1" i="0">
                <a:solidFill>
                  <a:srgbClr val="FFFFFF"/>
                </a:solidFill>
                <a:latin typeface="Calibri"/>
              </a:rPr>
              <a:t>1</a:t>
            </a:r>
          </a:p>
        </p:txBody>
      </p:sp>
      <p:sp>
        <p:nvSpPr>
          <p:cNvPr id="23" name="TextBox 22"/>
          <p:cNvSpPr txBox="1"/>
          <p:nvPr/>
        </p:nvSpPr>
        <p:spPr>
          <a:xfrm>
            <a:off x="4407407" y="4846320"/>
            <a:ext cx="1923288" cy="530352"/>
          </a:xfrm>
          <a:prstGeom prst="rect">
            <a:avLst/>
          </a:prstGeom>
          <a:noFill/>
        </p:spPr>
        <p:txBody>
          <a:bodyPr wrap="square" lIns="0" rIns="0" tIns="0" bIns="0" anchor="b">
            <a:noAutofit/>
          </a:bodyPr>
          <a:lstStyle/>
          <a:p>
            <a:pPr algn="l">
              <a:spcAft>
                <a:spcPts val="0"/>
              </a:spcAft>
            </a:pPr>
            <a:r>
              <a:rPr sz="1600" b="1" i="0">
                <a:solidFill>
                  <a:srgbClr val="0B1F3A"/>
                </a:solidFill>
                <a:latin typeface="Calibri"/>
              </a:rPr>
              <a:t>Teacher preparation time</a:t>
            </a:r>
          </a:p>
        </p:txBody>
      </p:sp>
      <p:sp>
        <p:nvSpPr>
          <p:cNvPr id="24" name="TextBox 23"/>
          <p:cNvSpPr txBox="1"/>
          <p:nvPr/>
        </p:nvSpPr>
        <p:spPr>
          <a:xfrm>
            <a:off x="4407407" y="5440680"/>
            <a:ext cx="1923288" cy="731520"/>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Minutes to prepare one chapter, before and after using the tool</a:t>
            </a:r>
          </a:p>
        </p:txBody>
      </p:sp>
      <p:sp>
        <p:nvSpPr>
          <p:cNvPr id="25" name="Rounded Rectangle 24"/>
          <p:cNvSpPr/>
          <p:nvPr/>
        </p:nvSpPr>
        <p:spPr>
          <a:xfrm>
            <a:off x="6760463" y="4160520"/>
            <a:ext cx="2325624" cy="2057400"/>
          </a:xfrm>
          <a:prstGeom prst="roundRect">
            <a:avLst>
              <a:gd name="adj" fmla="val 10000"/>
            </a:avLst>
          </a:prstGeom>
          <a:solidFill>
            <a:srgbClr val="F2F5F9"/>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961631" y="4343400"/>
            <a:ext cx="420624" cy="420624"/>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600" b="1" i="0">
                <a:solidFill>
                  <a:srgbClr val="FFFFFF"/>
                </a:solidFill>
                <a:latin typeface="Calibri"/>
              </a:rPr>
              <a:t>2</a:t>
            </a:r>
          </a:p>
        </p:txBody>
      </p:sp>
      <p:sp>
        <p:nvSpPr>
          <p:cNvPr id="27" name="TextBox 26"/>
          <p:cNvSpPr txBox="1"/>
          <p:nvPr/>
        </p:nvSpPr>
        <p:spPr>
          <a:xfrm>
            <a:off x="6961631" y="4846320"/>
            <a:ext cx="1923288" cy="530352"/>
          </a:xfrm>
          <a:prstGeom prst="rect">
            <a:avLst/>
          </a:prstGeom>
          <a:noFill/>
        </p:spPr>
        <p:txBody>
          <a:bodyPr wrap="square" lIns="0" rIns="0" tIns="0" bIns="0" anchor="b">
            <a:noAutofit/>
          </a:bodyPr>
          <a:lstStyle/>
          <a:p>
            <a:pPr algn="l">
              <a:spcAft>
                <a:spcPts val="0"/>
              </a:spcAft>
            </a:pPr>
            <a:r>
              <a:rPr sz="1600" b="1" i="0">
                <a:solidFill>
                  <a:srgbClr val="0B1F3A"/>
                </a:solidFill>
                <a:latin typeface="Calibri"/>
              </a:rPr>
              <a:t>Source-page reference accuracy</a:t>
            </a:r>
          </a:p>
        </p:txBody>
      </p:sp>
      <p:sp>
        <p:nvSpPr>
          <p:cNvPr id="28" name="TextBox 27"/>
          <p:cNvSpPr txBox="1"/>
          <p:nvPr/>
        </p:nvSpPr>
        <p:spPr>
          <a:xfrm>
            <a:off x="6961631" y="5440680"/>
            <a:ext cx="1923288" cy="731520"/>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Share of generated references that point to the correct page</a:t>
            </a:r>
          </a:p>
        </p:txBody>
      </p:sp>
      <p:sp>
        <p:nvSpPr>
          <p:cNvPr id="29" name="Rounded Rectangle 28"/>
          <p:cNvSpPr/>
          <p:nvPr/>
        </p:nvSpPr>
        <p:spPr>
          <a:xfrm>
            <a:off x="9314688" y="4160520"/>
            <a:ext cx="2325624" cy="2057400"/>
          </a:xfrm>
          <a:prstGeom prst="roundRect">
            <a:avLst>
              <a:gd name="adj" fmla="val 10000"/>
            </a:avLst>
          </a:prstGeom>
          <a:solidFill>
            <a:srgbClr val="F2F5F9"/>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515856" y="4343400"/>
            <a:ext cx="420624" cy="420624"/>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600" b="1" i="0">
                <a:solidFill>
                  <a:srgbClr val="FFFFFF"/>
                </a:solidFill>
                <a:latin typeface="Calibri"/>
              </a:rPr>
              <a:t>3</a:t>
            </a:r>
          </a:p>
        </p:txBody>
      </p:sp>
      <p:sp>
        <p:nvSpPr>
          <p:cNvPr id="31" name="TextBox 30"/>
          <p:cNvSpPr txBox="1"/>
          <p:nvPr/>
        </p:nvSpPr>
        <p:spPr>
          <a:xfrm>
            <a:off x="9515856" y="4846320"/>
            <a:ext cx="1923288" cy="530352"/>
          </a:xfrm>
          <a:prstGeom prst="rect">
            <a:avLst/>
          </a:prstGeom>
          <a:noFill/>
        </p:spPr>
        <p:txBody>
          <a:bodyPr wrap="square" lIns="0" rIns="0" tIns="0" bIns="0" anchor="b">
            <a:noAutofit/>
          </a:bodyPr>
          <a:lstStyle/>
          <a:p>
            <a:pPr algn="l">
              <a:spcAft>
                <a:spcPts val="0"/>
              </a:spcAft>
            </a:pPr>
            <a:r>
              <a:rPr sz="1600" b="1" i="0">
                <a:solidFill>
                  <a:srgbClr val="0B1F3A"/>
                </a:solidFill>
                <a:latin typeface="Calibri"/>
              </a:rPr>
              <a:t>Teacher acceptance</a:t>
            </a:r>
          </a:p>
        </p:txBody>
      </p:sp>
      <p:sp>
        <p:nvSpPr>
          <p:cNvPr id="32" name="TextBox 31"/>
          <p:cNvSpPr txBox="1"/>
          <p:nvPr/>
        </p:nvSpPr>
        <p:spPr>
          <a:xfrm>
            <a:off x="9515856" y="5440680"/>
            <a:ext cx="1923288" cy="731520"/>
          </a:xfrm>
          <a:prstGeom prst="rect">
            <a:avLst/>
          </a:prstGeom>
          <a:noFill/>
        </p:spPr>
        <p:txBody>
          <a:bodyPr wrap="square" lIns="0" rIns="0" tIns="0" bIns="0" anchor="t">
            <a:noAutofit/>
          </a:bodyPr>
          <a:lstStyle/>
          <a:p>
            <a:pPr algn="l">
              <a:spcAft>
                <a:spcPts val="0"/>
              </a:spcAft>
            </a:pPr>
            <a:r>
              <a:rPr sz="1400" b="0" i="0">
                <a:solidFill>
                  <a:srgbClr val="1E293B"/>
                </a:solidFill>
                <a:latin typeface="Calibri"/>
              </a:rPr>
              <a:t>Share of generated materials accepted by teachers after review</a:t>
            </a:r>
          </a:p>
        </p:txBody>
      </p:sp>
      <p:sp>
        <p:nvSpPr>
          <p:cNvPr id="33" name="TextBox 32"/>
          <p:cNvSpPr txBox="1"/>
          <p:nvPr/>
        </p:nvSpPr>
        <p:spPr>
          <a:xfrm>
            <a:off x="548640" y="6428232"/>
            <a:ext cx="5486400" cy="274320"/>
          </a:xfrm>
          <a:prstGeom prst="rect">
            <a:avLst/>
          </a:prstGeom>
          <a:noFill/>
        </p:spPr>
        <p:txBody>
          <a:bodyPr wrap="square" lIns="0" rIns="0" tIns="0" bIns="0" anchor="t">
            <a:noAutofit/>
          </a:bodyPr>
          <a:lstStyle/>
          <a:p>
            <a:pPr algn="l">
              <a:spcAft>
                <a:spcPts val="0"/>
              </a:spcAft>
            </a:pPr>
            <a:r>
              <a:rPr sz="1000" b="0" i="0">
                <a:solidFill>
                  <a:srgbClr val="5B677A"/>
                </a:solidFill>
                <a:latin typeface="Calibri"/>
              </a:rPr>
              <a:t>Project Axiora  |  CourseForge AI  |  Team KayCode</a:t>
            </a:r>
          </a:p>
        </p:txBody>
      </p:sp>
      <p:sp>
        <p:nvSpPr>
          <p:cNvPr id="34" name="TextBox 33"/>
          <p:cNvSpPr txBox="1"/>
          <p:nvPr/>
        </p:nvSpPr>
        <p:spPr>
          <a:xfrm>
            <a:off x="9811512" y="6428232"/>
            <a:ext cx="1828800" cy="274320"/>
          </a:xfrm>
          <a:prstGeom prst="rect">
            <a:avLst/>
          </a:prstGeom>
          <a:noFill/>
        </p:spPr>
        <p:txBody>
          <a:bodyPr wrap="square" lIns="0" rIns="0" tIns="0" bIns="0" anchor="t">
            <a:noAutofit/>
          </a:bodyPr>
          <a:lstStyle/>
          <a:p>
            <a:pPr algn="r">
              <a:spcAft>
                <a:spcPts val="0"/>
              </a:spcAft>
            </a:pPr>
            <a:r>
              <a:rPr sz="1000" b="0" i="0">
                <a:solidFill>
                  <a:srgbClr val="5B677A"/>
                </a:solidFill>
                <a:latin typeface="Calibri"/>
              </a:rP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74320"/>
          </a:xfrm>
          <a:prstGeom prst="rect">
            <a:avLst/>
          </a:prstGeom>
          <a:noFill/>
        </p:spPr>
        <p:txBody>
          <a:bodyPr wrap="square" lIns="0" rIns="0" tIns="0" bIns="0" anchor="t">
            <a:noAutofit/>
          </a:bodyPr>
          <a:lstStyle/>
          <a:p>
            <a:pPr algn="l">
              <a:spcAft>
                <a:spcPts val="0"/>
              </a:spcAft>
            </a:pPr>
            <a:r>
              <a:rPr sz="1300" b="1" i="0">
                <a:solidFill>
                  <a:srgbClr val="047857"/>
                </a:solidFill>
                <a:latin typeface="Calibri"/>
              </a:rPr>
              <a:t>FEASIBILITY AND IMPLEMENTATION</a:t>
            </a:r>
          </a:p>
        </p:txBody>
      </p:sp>
      <p:sp>
        <p:nvSpPr>
          <p:cNvPr id="3" name="TextBox 2"/>
          <p:cNvSpPr txBox="1"/>
          <p:nvPr/>
        </p:nvSpPr>
        <p:spPr>
          <a:xfrm>
            <a:off x="548640" y="603504"/>
            <a:ext cx="11064240" cy="640080"/>
          </a:xfrm>
          <a:prstGeom prst="rect">
            <a:avLst/>
          </a:prstGeom>
          <a:noFill/>
        </p:spPr>
        <p:txBody>
          <a:bodyPr wrap="square" lIns="0" rIns="0" tIns="0" bIns="0" anchor="t">
            <a:noAutofit/>
          </a:bodyPr>
          <a:lstStyle/>
          <a:p>
            <a:pPr algn="l">
              <a:spcAft>
                <a:spcPts val="0"/>
              </a:spcAft>
            </a:pPr>
            <a:r>
              <a:rPr sz="3400" b="1" i="0">
                <a:solidFill>
                  <a:srgbClr val="0B1F3A"/>
                </a:solidFill>
                <a:latin typeface="Calibri"/>
              </a:rPr>
              <a:t>A lean pipeline one developer can build</a:t>
            </a:r>
          </a:p>
        </p:txBody>
      </p:sp>
      <p:sp>
        <p:nvSpPr>
          <p:cNvPr id="4" name="TextBox 3"/>
          <p:cNvSpPr txBox="1"/>
          <p:nvPr/>
        </p:nvSpPr>
        <p:spPr>
          <a:xfrm>
            <a:off x="548640" y="1243584"/>
            <a:ext cx="11064240" cy="365760"/>
          </a:xfrm>
          <a:prstGeom prst="rect">
            <a:avLst/>
          </a:prstGeom>
          <a:noFill/>
        </p:spPr>
        <p:txBody>
          <a:bodyPr wrap="square" lIns="0" rIns="0" tIns="0" bIns="0" anchor="t">
            <a:noAutofit/>
          </a:bodyPr>
          <a:lstStyle/>
          <a:p>
            <a:pPr algn="l">
              <a:spcAft>
                <a:spcPts val="0"/>
              </a:spcAft>
            </a:pPr>
            <a:r>
              <a:rPr sz="1600" b="0" i="0">
                <a:solidFill>
                  <a:srgbClr val="5B677A"/>
                </a:solidFill>
                <a:latin typeface="Calibri"/>
              </a:rPr>
              <a:t>Proposed architecture with a deliberately limited first scope.</a:t>
            </a:r>
          </a:p>
        </p:txBody>
      </p:sp>
      <p:sp>
        <p:nvSpPr>
          <p:cNvPr id="5" name="Rounded Rectangle 4"/>
          <p:cNvSpPr/>
          <p:nvPr/>
        </p:nvSpPr>
        <p:spPr>
          <a:xfrm>
            <a:off x="548640" y="1783080"/>
            <a:ext cx="1349393" cy="960120"/>
          </a:xfrm>
          <a:prstGeom prst="roundRect">
            <a:avLst>
              <a:gd name="adj" fmla="val 10000"/>
            </a:avLst>
          </a:prstGeom>
          <a:solidFill>
            <a:srgbClr val="F2F5F9"/>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spcAft>
                <a:spcPts val="0"/>
              </a:spcAft>
            </a:pPr>
            <a:r>
              <a:rPr sz="1400" b="1" i="0">
                <a:solidFill>
                  <a:srgbClr val="0B1F3A"/>
                </a:solidFill>
                <a:latin typeface="Calibri"/>
              </a:rPr>
              <a:t>PDF input</a:t>
            </a:r>
          </a:p>
        </p:txBody>
      </p:sp>
      <p:sp>
        <p:nvSpPr>
          <p:cNvPr id="6" name="Right Arrow 5"/>
          <p:cNvSpPr/>
          <p:nvPr/>
        </p:nvSpPr>
        <p:spPr>
          <a:xfrm>
            <a:off x="1952897" y="2171700"/>
            <a:ext cx="164592" cy="182880"/>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72353" y="1783080"/>
            <a:ext cx="1349393" cy="960120"/>
          </a:xfrm>
          <a:prstGeom prst="roundRect">
            <a:avLst>
              <a:gd name="adj" fmla="val 10000"/>
            </a:avLst>
          </a:prstGeom>
          <a:solidFill>
            <a:srgbClr val="F2F5F9"/>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spcAft>
                <a:spcPts val="0"/>
              </a:spcAft>
            </a:pPr>
            <a:r>
              <a:rPr sz="1400" b="1" i="0">
                <a:solidFill>
                  <a:srgbClr val="0B1F3A"/>
                </a:solidFill>
                <a:latin typeface="Calibri"/>
              </a:rPr>
              <a:t>Python PDF extraction</a:t>
            </a:r>
          </a:p>
        </p:txBody>
      </p:sp>
      <p:sp>
        <p:nvSpPr>
          <p:cNvPr id="8" name="Right Arrow 7"/>
          <p:cNvSpPr/>
          <p:nvPr/>
        </p:nvSpPr>
        <p:spPr>
          <a:xfrm>
            <a:off x="3576610" y="2171700"/>
            <a:ext cx="164592" cy="182880"/>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96066" y="1783080"/>
            <a:ext cx="1349393" cy="960120"/>
          </a:xfrm>
          <a:prstGeom prst="roundRect">
            <a:avLst>
              <a:gd name="adj" fmla="val 10000"/>
            </a:avLst>
          </a:prstGeom>
          <a:solidFill>
            <a:srgbClr val="F2F5F9"/>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spcAft>
                <a:spcPts val="0"/>
              </a:spcAft>
            </a:pPr>
            <a:r>
              <a:rPr sz="1400" b="1" i="0">
                <a:solidFill>
                  <a:srgbClr val="0B1F3A"/>
                </a:solidFill>
                <a:latin typeface="Calibri"/>
              </a:rPr>
              <a:t>Chapter segmentation</a:t>
            </a:r>
          </a:p>
        </p:txBody>
      </p:sp>
      <p:sp>
        <p:nvSpPr>
          <p:cNvPr id="10" name="Right Arrow 9"/>
          <p:cNvSpPr/>
          <p:nvPr/>
        </p:nvSpPr>
        <p:spPr>
          <a:xfrm>
            <a:off x="5200323" y="2171700"/>
            <a:ext cx="164592" cy="182880"/>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19779" y="1783080"/>
            <a:ext cx="1349393" cy="960120"/>
          </a:xfrm>
          <a:prstGeom prst="roundRect">
            <a:avLst>
              <a:gd name="adj" fmla="val 10000"/>
            </a:avLst>
          </a:prstGeom>
          <a:solidFill>
            <a:srgbClr val="F2F5F9"/>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spcAft>
                <a:spcPts val="0"/>
              </a:spcAft>
            </a:pPr>
            <a:r>
              <a:rPr sz="1400" b="1" i="0">
                <a:solidFill>
                  <a:srgbClr val="0B1F3A"/>
                </a:solidFill>
                <a:latin typeface="Calibri"/>
              </a:rPr>
              <a:t>Source retrieval</a:t>
            </a:r>
          </a:p>
        </p:txBody>
      </p:sp>
      <p:sp>
        <p:nvSpPr>
          <p:cNvPr id="12" name="Right Arrow 11"/>
          <p:cNvSpPr/>
          <p:nvPr/>
        </p:nvSpPr>
        <p:spPr>
          <a:xfrm>
            <a:off x="6824036" y="2171700"/>
            <a:ext cx="164592" cy="182880"/>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043492" y="1783080"/>
            <a:ext cx="1349393" cy="960120"/>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spcAft>
                <a:spcPts val="0"/>
              </a:spcAft>
            </a:pPr>
            <a:r>
              <a:rPr sz="1400" b="1" i="0">
                <a:solidFill>
                  <a:srgbClr val="FFFFFF"/>
                </a:solidFill>
                <a:latin typeface="Calibri"/>
              </a:rPr>
              <a:t>LLM course generation</a:t>
            </a:r>
          </a:p>
        </p:txBody>
      </p:sp>
      <p:sp>
        <p:nvSpPr>
          <p:cNvPr id="14" name="Right Arrow 13"/>
          <p:cNvSpPr/>
          <p:nvPr/>
        </p:nvSpPr>
        <p:spPr>
          <a:xfrm>
            <a:off x="8447749" y="2171700"/>
            <a:ext cx="164592" cy="182880"/>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667205" y="1783080"/>
            <a:ext cx="1349393" cy="960120"/>
          </a:xfrm>
          <a:prstGeom prst="roundRect">
            <a:avLst>
              <a:gd name="adj" fmla="val 10000"/>
            </a:avLst>
          </a:prstGeom>
          <a:solidFill>
            <a:srgbClr val="E6F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spcAft>
                <a:spcPts val="0"/>
              </a:spcAft>
            </a:pPr>
            <a:r>
              <a:rPr sz="1400" b="1" i="0">
                <a:solidFill>
                  <a:srgbClr val="047857"/>
                </a:solidFill>
                <a:latin typeface="Calibri"/>
              </a:rPr>
              <a:t>Structured output validation</a:t>
            </a:r>
          </a:p>
        </p:txBody>
      </p:sp>
      <p:sp>
        <p:nvSpPr>
          <p:cNvPr id="16" name="Right Arrow 15"/>
          <p:cNvSpPr/>
          <p:nvPr/>
        </p:nvSpPr>
        <p:spPr>
          <a:xfrm>
            <a:off x="10071462" y="2171700"/>
            <a:ext cx="164592" cy="182880"/>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290918" y="1783080"/>
            <a:ext cx="1349393" cy="960120"/>
          </a:xfrm>
          <a:prstGeom prst="roundRect">
            <a:avLst>
              <a:gd name="adj" fmla="val 10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noAutofit/>
          </a:bodyPr>
          <a:lstStyle/>
          <a:p>
            <a:pPr algn="ctr">
              <a:spcAft>
                <a:spcPts val="0"/>
              </a:spcAft>
            </a:pPr>
            <a:r>
              <a:rPr sz="1400" b="1" i="0">
                <a:solidFill>
                  <a:srgbClr val="FFFFFF"/>
                </a:solidFill>
                <a:latin typeface="Calibri"/>
              </a:rPr>
              <a:t>Teacher review</a:t>
            </a:r>
          </a:p>
        </p:txBody>
      </p:sp>
      <p:sp>
        <p:nvSpPr>
          <p:cNvPr id="18" name="TextBox 17"/>
          <p:cNvSpPr txBox="1"/>
          <p:nvPr/>
        </p:nvSpPr>
        <p:spPr>
          <a:xfrm>
            <a:off x="548640" y="2971800"/>
            <a:ext cx="1097280" cy="365760"/>
          </a:xfrm>
          <a:prstGeom prst="rect">
            <a:avLst/>
          </a:prstGeom>
          <a:noFill/>
        </p:spPr>
        <p:txBody>
          <a:bodyPr wrap="square" lIns="0" rIns="0" tIns="0" bIns="0" anchor="ctr">
            <a:noAutofit/>
          </a:bodyPr>
          <a:lstStyle/>
          <a:p>
            <a:pPr algn="l">
              <a:spcAft>
                <a:spcPts val="0"/>
              </a:spcAft>
            </a:pPr>
            <a:r>
              <a:rPr sz="1400" b="1" i="0">
                <a:solidFill>
                  <a:srgbClr val="5B677A"/>
                </a:solidFill>
                <a:latin typeface="Calibri"/>
              </a:rPr>
              <a:t>Built with</a:t>
            </a:r>
          </a:p>
        </p:txBody>
      </p:sp>
      <p:sp>
        <p:nvSpPr>
          <p:cNvPr id="19" name="Rounded Rectangle 18"/>
          <p:cNvSpPr/>
          <p:nvPr/>
        </p:nvSpPr>
        <p:spPr>
          <a:xfrm>
            <a:off x="1645920" y="2971800"/>
            <a:ext cx="775411" cy="365760"/>
          </a:xfrm>
          <a:prstGeom prst="roundRect">
            <a:avLst>
              <a:gd name="adj" fmla="val 50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300" b="1" i="0">
                <a:solidFill>
                  <a:srgbClr val="047857"/>
                </a:solidFill>
                <a:latin typeface="Calibri"/>
              </a:rPr>
              <a:t>Python</a:t>
            </a:r>
          </a:p>
        </p:txBody>
      </p:sp>
      <p:sp>
        <p:nvSpPr>
          <p:cNvPr id="20" name="Rounded Rectangle 19"/>
          <p:cNvSpPr/>
          <p:nvPr/>
        </p:nvSpPr>
        <p:spPr>
          <a:xfrm>
            <a:off x="2558491" y="2971800"/>
            <a:ext cx="1016812" cy="365760"/>
          </a:xfrm>
          <a:prstGeom prst="roundRect">
            <a:avLst>
              <a:gd name="adj" fmla="val 50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300" b="1" i="0">
                <a:solidFill>
                  <a:srgbClr val="047857"/>
                </a:solidFill>
                <a:latin typeface="Calibri"/>
              </a:rPr>
              <a:t>Streamlit</a:t>
            </a:r>
          </a:p>
        </p:txBody>
      </p:sp>
      <p:sp>
        <p:nvSpPr>
          <p:cNvPr id="21" name="Rounded Rectangle 20"/>
          <p:cNvSpPr/>
          <p:nvPr/>
        </p:nvSpPr>
        <p:spPr>
          <a:xfrm>
            <a:off x="3712463" y="2971800"/>
            <a:ext cx="2062886" cy="365760"/>
          </a:xfrm>
          <a:prstGeom prst="roundRect">
            <a:avLst>
              <a:gd name="adj" fmla="val 50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300" b="1" i="0">
                <a:solidFill>
                  <a:srgbClr val="047857"/>
                </a:solidFill>
                <a:latin typeface="Calibri"/>
              </a:rPr>
              <a:t>PDF extraction library</a:t>
            </a:r>
          </a:p>
        </p:txBody>
      </p:sp>
      <p:sp>
        <p:nvSpPr>
          <p:cNvPr id="22" name="Rounded Rectangle 21"/>
          <p:cNvSpPr/>
          <p:nvPr/>
        </p:nvSpPr>
        <p:spPr>
          <a:xfrm>
            <a:off x="5912510" y="2971800"/>
            <a:ext cx="855878" cy="365760"/>
          </a:xfrm>
          <a:prstGeom prst="roundRect">
            <a:avLst>
              <a:gd name="adj" fmla="val 50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300" b="1" i="0">
                <a:solidFill>
                  <a:srgbClr val="047857"/>
                </a:solidFill>
                <a:latin typeface="Calibri"/>
              </a:rPr>
              <a:t>LLM API</a:t>
            </a:r>
          </a:p>
        </p:txBody>
      </p:sp>
      <p:sp>
        <p:nvSpPr>
          <p:cNvPr id="23" name="Rounded Rectangle 22"/>
          <p:cNvSpPr/>
          <p:nvPr/>
        </p:nvSpPr>
        <p:spPr>
          <a:xfrm>
            <a:off x="6905548" y="2971800"/>
            <a:ext cx="1901951" cy="365760"/>
          </a:xfrm>
          <a:prstGeom prst="roundRect">
            <a:avLst>
              <a:gd name="adj" fmla="val 50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300" b="1" i="0">
                <a:solidFill>
                  <a:srgbClr val="047857"/>
                </a:solidFill>
                <a:latin typeface="Calibri"/>
              </a:rPr>
              <a:t>Source-page metadata</a:t>
            </a:r>
          </a:p>
        </p:txBody>
      </p:sp>
      <p:sp>
        <p:nvSpPr>
          <p:cNvPr id="24" name="Rounded Rectangle 23"/>
          <p:cNvSpPr/>
          <p:nvPr/>
        </p:nvSpPr>
        <p:spPr>
          <a:xfrm>
            <a:off x="8944660" y="2971800"/>
            <a:ext cx="2062886" cy="365760"/>
          </a:xfrm>
          <a:prstGeom prst="roundRect">
            <a:avLst>
              <a:gd name="adj" fmla="val 50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300" b="1" i="0">
                <a:solidFill>
                  <a:srgbClr val="047857"/>
                </a:solidFill>
                <a:latin typeface="Calibri"/>
              </a:rPr>
              <a:t>JSON output validation</a:t>
            </a:r>
          </a:p>
        </p:txBody>
      </p:sp>
      <p:sp>
        <p:nvSpPr>
          <p:cNvPr id="25" name="Rounded Rectangle 24"/>
          <p:cNvSpPr/>
          <p:nvPr/>
        </p:nvSpPr>
        <p:spPr>
          <a:xfrm>
            <a:off x="548640" y="3611880"/>
            <a:ext cx="3566160" cy="2606040"/>
          </a:xfrm>
          <a:prstGeom prst="roundRect">
            <a:avLst>
              <a:gd name="adj" fmla="val 1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840480"/>
            <a:ext cx="3017520" cy="365760"/>
          </a:xfrm>
          <a:prstGeom prst="rect">
            <a:avLst/>
          </a:prstGeom>
          <a:noFill/>
        </p:spPr>
        <p:txBody>
          <a:bodyPr wrap="square" lIns="0" rIns="0" tIns="0" bIns="0" anchor="t">
            <a:noAutofit/>
          </a:bodyPr>
          <a:lstStyle/>
          <a:p>
            <a:pPr algn="l">
              <a:spcAft>
                <a:spcPts val="0"/>
              </a:spcAft>
            </a:pPr>
            <a:r>
              <a:rPr sz="1800" b="1" i="0">
                <a:solidFill>
                  <a:srgbClr val="FFFFFF"/>
                </a:solidFill>
                <a:latin typeface="Calibri"/>
              </a:rPr>
              <a:t>Deliberately limited scope</a:t>
            </a:r>
          </a:p>
        </p:txBody>
      </p:sp>
      <p:sp>
        <p:nvSpPr>
          <p:cNvPr id="27" name="Oval 26"/>
          <p:cNvSpPr/>
          <p:nvPr/>
        </p:nvSpPr>
        <p:spPr>
          <a:xfrm>
            <a:off x="827531" y="4416552"/>
            <a:ext cx="100584" cy="100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0704" y="4343400"/>
            <a:ext cx="2779775" cy="347472"/>
          </a:xfrm>
          <a:prstGeom prst="rect">
            <a:avLst/>
          </a:prstGeom>
          <a:noFill/>
        </p:spPr>
        <p:txBody>
          <a:bodyPr wrap="square" lIns="0" rIns="0" tIns="0" bIns="0" anchor="t">
            <a:noAutofit/>
          </a:bodyPr>
          <a:lstStyle/>
          <a:p>
            <a:pPr algn="l">
              <a:spcAft>
                <a:spcPts val="0"/>
              </a:spcAft>
            </a:pPr>
            <a:r>
              <a:rPr sz="1500" b="0" i="0">
                <a:solidFill>
                  <a:srgbClr val="FFFFFF"/>
                </a:solidFill>
                <a:latin typeface="Calibri"/>
              </a:rPr>
              <a:t>One textbook chapter</a:t>
            </a:r>
          </a:p>
        </p:txBody>
      </p:sp>
      <p:sp>
        <p:nvSpPr>
          <p:cNvPr id="29" name="Oval 28"/>
          <p:cNvSpPr/>
          <p:nvPr/>
        </p:nvSpPr>
        <p:spPr>
          <a:xfrm>
            <a:off x="827531" y="4764024"/>
            <a:ext cx="100584" cy="100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60704" y="4690872"/>
            <a:ext cx="2779775" cy="347472"/>
          </a:xfrm>
          <a:prstGeom prst="rect">
            <a:avLst/>
          </a:prstGeom>
          <a:noFill/>
        </p:spPr>
        <p:txBody>
          <a:bodyPr wrap="square" lIns="0" rIns="0" tIns="0" bIns="0" anchor="t">
            <a:noAutofit/>
          </a:bodyPr>
          <a:lstStyle/>
          <a:p>
            <a:pPr algn="l">
              <a:spcAft>
                <a:spcPts val="0"/>
              </a:spcAft>
            </a:pPr>
            <a:r>
              <a:rPr sz="1500" b="0" i="0">
                <a:solidFill>
                  <a:srgbClr val="FFFFFF"/>
                </a:solidFill>
                <a:latin typeface="Calibri"/>
              </a:rPr>
              <a:t>Five generated lessons</a:t>
            </a:r>
          </a:p>
        </p:txBody>
      </p:sp>
      <p:sp>
        <p:nvSpPr>
          <p:cNvPr id="31" name="Oval 30"/>
          <p:cNvSpPr/>
          <p:nvPr/>
        </p:nvSpPr>
        <p:spPr>
          <a:xfrm>
            <a:off x="827531" y="5111496"/>
            <a:ext cx="100584" cy="100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60704" y="5038344"/>
            <a:ext cx="2779775" cy="347472"/>
          </a:xfrm>
          <a:prstGeom prst="rect">
            <a:avLst/>
          </a:prstGeom>
          <a:noFill/>
        </p:spPr>
        <p:txBody>
          <a:bodyPr wrap="square" lIns="0" rIns="0" tIns="0" bIns="0" anchor="t">
            <a:noAutofit/>
          </a:bodyPr>
          <a:lstStyle/>
          <a:p>
            <a:pPr algn="l">
              <a:spcAft>
                <a:spcPts val="0"/>
              </a:spcAft>
            </a:pPr>
            <a:r>
              <a:rPr sz="1500" b="0" i="0">
                <a:solidFill>
                  <a:srgbClr val="FFFFFF"/>
                </a:solidFill>
                <a:latin typeface="Calibri"/>
              </a:rPr>
              <a:t>Core workflow first</a:t>
            </a:r>
          </a:p>
        </p:txBody>
      </p:sp>
      <p:sp>
        <p:nvSpPr>
          <p:cNvPr id="33" name="Oval 32"/>
          <p:cNvSpPr/>
          <p:nvPr/>
        </p:nvSpPr>
        <p:spPr>
          <a:xfrm>
            <a:off x="827531" y="5458968"/>
            <a:ext cx="100584" cy="1005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60704" y="5385816"/>
            <a:ext cx="2779775" cy="347472"/>
          </a:xfrm>
          <a:prstGeom prst="rect">
            <a:avLst/>
          </a:prstGeom>
          <a:noFill/>
        </p:spPr>
        <p:txBody>
          <a:bodyPr wrap="square" lIns="0" rIns="0" tIns="0" bIns="0" anchor="t">
            <a:noAutofit/>
          </a:bodyPr>
          <a:lstStyle/>
          <a:p>
            <a:pPr algn="l">
              <a:spcAft>
                <a:spcPts val="0"/>
              </a:spcAft>
            </a:pPr>
            <a:r>
              <a:rPr sz="1500" b="0" i="0">
                <a:solidFill>
                  <a:srgbClr val="FFFFFF"/>
                </a:solidFill>
                <a:latin typeface="Calibri"/>
              </a:rPr>
              <a:t>No full LMS in version 1</a:t>
            </a:r>
          </a:p>
        </p:txBody>
      </p:sp>
      <p:sp>
        <p:nvSpPr>
          <p:cNvPr id="35" name="TextBox 34"/>
          <p:cNvSpPr txBox="1"/>
          <p:nvPr/>
        </p:nvSpPr>
        <p:spPr>
          <a:xfrm>
            <a:off x="822960" y="5760720"/>
            <a:ext cx="3017520" cy="365760"/>
          </a:xfrm>
          <a:prstGeom prst="rect">
            <a:avLst/>
          </a:prstGeom>
          <a:noFill/>
        </p:spPr>
        <p:txBody>
          <a:bodyPr wrap="square" lIns="0" rIns="0" tIns="0" bIns="0" anchor="t">
            <a:noAutofit/>
          </a:bodyPr>
          <a:lstStyle/>
          <a:p>
            <a:pPr algn="l">
              <a:spcAft>
                <a:spcPts val="0"/>
              </a:spcAft>
            </a:pPr>
            <a:r>
              <a:rPr sz="1200" b="0" i="1">
                <a:solidFill>
                  <a:srgbClr val="C9D6EA"/>
                </a:solidFill>
                <a:latin typeface="Calibri"/>
              </a:rPr>
              <a:t>Small enough for an individual developer to prototype.</a:t>
            </a:r>
          </a:p>
        </p:txBody>
      </p:sp>
      <p:sp>
        <p:nvSpPr>
          <p:cNvPr id="36" name="TextBox 35"/>
          <p:cNvSpPr txBox="1"/>
          <p:nvPr/>
        </p:nvSpPr>
        <p:spPr>
          <a:xfrm>
            <a:off x="4389120" y="3611880"/>
            <a:ext cx="4572000" cy="365760"/>
          </a:xfrm>
          <a:prstGeom prst="rect">
            <a:avLst/>
          </a:prstGeom>
          <a:noFill/>
        </p:spPr>
        <p:txBody>
          <a:bodyPr wrap="square" lIns="0" rIns="0" tIns="0" bIns="0" anchor="t">
            <a:noAutofit/>
          </a:bodyPr>
          <a:lstStyle/>
          <a:p>
            <a:pPr algn="l">
              <a:spcAft>
                <a:spcPts val="0"/>
              </a:spcAft>
            </a:pPr>
            <a:r>
              <a:rPr sz="1800" b="1" i="0">
                <a:solidFill>
                  <a:srgbClr val="0B1F3A"/>
                </a:solidFill>
                <a:latin typeface="Calibri"/>
              </a:rPr>
              <a:t>Key risks and mitigations</a:t>
            </a:r>
          </a:p>
        </p:txBody>
      </p:sp>
      <p:sp>
        <p:nvSpPr>
          <p:cNvPr id="37" name="Rectangle 36"/>
          <p:cNvSpPr/>
          <p:nvPr/>
        </p:nvSpPr>
        <p:spPr>
          <a:xfrm>
            <a:off x="4389120" y="4069080"/>
            <a:ext cx="7251192" cy="301752"/>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26280" y="4069080"/>
            <a:ext cx="3291840" cy="301752"/>
          </a:xfrm>
          <a:prstGeom prst="rect">
            <a:avLst/>
          </a:prstGeom>
          <a:noFill/>
        </p:spPr>
        <p:txBody>
          <a:bodyPr wrap="square" lIns="0" rIns="0" tIns="0" bIns="0" anchor="ctr">
            <a:noAutofit/>
          </a:bodyPr>
          <a:lstStyle/>
          <a:p>
            <a:pPr algn="l">
              <a:spcAft>
                <a:spcPts val="0"/>
              </a:spcAft>
            </a:pPr>
            <a:r>
              <a:rPr sz="1400" b="1" i="0">
                <a:solidFill>
                  <a:srgbClr val="1E293B"/>
                </a:solidFill>
                <a:latin typeface="Calibri"/>
              </a:rPr>
              <a:t>Scanned or poorly formatted PDFs</a:t>
            </a:r>
          </a:p>
        </p:txBody>
      </p:sp>
      <p:sp>
        <p:nvSpPr>
          <p:cNvPr id="39" name="Right Arrow 38"/>
          <p:cNvSpPr/>
          <p:nvPr/>
        </p:nvSpPr>
        <p:spPr>
          <a:xfrm>
            <a:off x="7863840" y="4146804"/>
            <a:ext cx="182880" cy="14630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0" y="4069080"/>
            <a:ext cx="3319272" cy="301752"/>
          </a:xfrm>
          <a:prstGeom prst="rect">
            <a:avLst/>
          </a:prstGeom>
          <a:noFill/>
        </p:spPr>
        <p:txBody>
          <a:bodyPr wrap="square" lIns="0" rIns="0" tIns="0" bIns="0" anchor="ctr">
            <a:noAutofit/>
          </a:bodyPr>
          <a:lstStyle/>
          <a:p>
            <a:pPr algn="l">
              <a:spcAft>
                <a:spcPts val="0"/>
              </a:spcAft>
            </a:pPr>
            <a:r>
              <a:rPr sz="1400" b="0" i="0">
                <a:solidFill>
                  <a:srgbClr val="1E293B"/>
                </a:solidFill>
                <a:latin typeface="Calibri"/>
              </a:rPr>
              <a:t>Check extracted text quality first</a:t>
            </a:r>
          </a:p>
        </p:txBody>
      </p:sp>
      <p:sp>
        <p:nvSpPr>
          <p:cNvPr id="41" name="TextBox 40"/>
          <p:cNvSpPr txBox="1"/>
          <p:nvPr/>
        </p:nvSpPr>
        <p:spPr>
          <a:xfrm>
            <a:off x="4526280" y="4370832"/>
            <a:ext cx="3291840" cy="301752"/>
          </a:xfrm>
          <a:prstGeom prst="rect">
            <a:avLst/>
          </a:prstGeom>
          <a:noFill/>
        </p:spPr>
        <p:txBody>
          <a:bodyPr wrap="square" lIns="0" rIns="0" tIns="0" bIns="0" anchor="ctr">
            <a:noAutofit/>
          </a:bodyPr>
          <a:lstStyle/>
          <a:p>
            <a:pPr algn="l">
              <a:spcAft>
                <a:spcPts val="0"/>
              </a:spcAft>
            </a:pPr>
            <a:r>
              <a:rPr sz="1400" b="1" i="0">
                <a:solidFill>
                  <a:srgbClr val="1E293B"/>
                </a:solidFill>
                <a:latin typeface="Calibri"/>
              </a:rPr>
              <a:t>Inaccurate explanations</a:t>
            </a:r>
          </a:p>
        </p:txBody>
      </p:sp>
      <p:sp>
        <p:nvSpPr>
          <p:cNvPr id="42" name="Right Arrow 41"/>
          <p:cNvSpPr/>
          <p:nvPr/>
        </p:nvSpPr>
        <p:spPr>
          <a:xfrm>
            <a:off x="7863840" y="4448556"/>
            <a:ext cx="182880" cy="14630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0" y="4370832"/>
            <a:ext cx="3319272" cy="301752"/>
          </a:xfrm>
          <a:prstGeom prst="rect">
            <a:avLst/>
          </a:prstGeom>
          <a:noFill/>
        </p:spPr>
        <p:txBody>
          <a:bodyPr wrap="square" lIns="0" rIns="0" tIns="0" bIns="0" anchor="ctr">
            <a:noAutofit/>
          </a:bodyPr>
          <a:lstStyle/>
          <a:p>
            <a:pPr algn="l">
              <a:spcAft>
                <a:spcPts val="0"/>
              </a:spcAft>
            </a:pPr>
            <a:r>
              <a:rPr sz="1400" b="0" i="0">
                <a:solidFill>
                  <a:srgbClr val="1E293B"/>
                </a:solidFill>
                <a:latin typeface="Calibri"/>
              </a:rPr>
              <a:t>Mandatory teacher review before use</a:t>
            </a:r>
          </a:p>
        </p:txBody>
      </p:sp>
      <p:sp>
        <p:nvSpPr>
          <p:cNvPr id="44" name="Rectangle 43"/>
          <p:cNvSpPr/>
          <p:nvPr/>
        </p:nvSpPr>
        <p:spPr>
          <a:xfrm>
            <a:off x="4389120" y="4672584"/>
            <a:ext cx="7251192" cy="301752"/>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26280" y="4672584"/>
            <a:ext cx="3291840" cy="301752"/>
          </a:xfrm>
          <a:prstGeom prst="rect">
            <a:avLst/>
          </a:prstGeom>
          <a:noFill/>
        </p:spPr>
        <p:txBody>
          <a:bodyPr wrap="square" lIns="0" rIns="0" tIns="0" bIns="0" anchor="ctr">
            <a:noAutofit/>
          </a:bodyPr>
          <a:lstStyle/>
          <a:p>
            <a:pPr algn="l">
              <a:spcAft>
                <a:spcPts val="0"/>
              </a:spcAft>
            </a:pPr>
            <a:r>
              <a:rPr sz="1400" b="1" i="0">
                <a:solidFill>
                  <a:srgbClr val="1E293B"/>
                </a:solidFill>
                <a:latin typeface="Calibri"/>
              </a:rPr>
              <a:t>Incorrect or missing citations</a:t>
            </a:r>
          </a:p>
        </p:txBody>
      </p:sp>
      <p:sp>
        <p:nvSpPr>
          <p:cNvPr id="46" name="Right Arrow 45"/>
          <p:cNvSpPr/>
          <p:nvPr/>
        </p:nvSpPr>
        <p:spPr>
          <a:xfrm>
            <a:off x="7863840" y="4750308"/>
            <a:ext cx="182880" cy="14630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600" y="4672584"/>
            <a:ext cx="3319272" cy="301752"/>
          </a:xfrm>
          <a:prstGeom prst="rect">
            <a:avLst/>
          </a:prstGeom>
          <a:noFill/>
        </p:spPr>
        <p:txBody>
          <a:bodyPr wrap="square" lIns="0" rIns="0" tIns="0" bIns="0" anchor="ctr">
            <a:noAutofit/>
          </a:bodyPr>
          <a:lstStyle/>
          <a:p>
            <a:pPr algn="l">
              <a:spcAft>
                <a:spcPts val="0"/>
              </a:spcAft>
            </a:pPr>
            <a:r>
              <a:rPr sz="1400" b="0" i="0">
                <a:solidFill>
                  <a:srgbClr val="1E293B"/>
                </a:solidFill>
                <a:latin typeface="Calibri"/>
              </a:rPr>
              <a:t>Validate references, show source pages</a:t>
            </a:r>
          </a:p>
        </p:txBody>
      </p:sp>
      <p:sp>
        <p:nvSpPr>
          <p:cNvPr id="48" name="TextBox 47"/>
          <p:cNvSpPr txBox="1"/>
          <p:nvPr/>
        </p:nvSpPr>
        <p:spPr>
          <a:xfrm>
            <a:off x="4526280" y="4974336"/>
            <a:ext cx="3291840" cy="301752"/>
          </a:xfrm>
          <a:prstGeom prst="rect">
            <a:avLst/>
          </a:prstGeom>
          <a:noFill/>
        </p:spPr>
        <p:txBody>
          <a:bodyPr wrap="square" lIns="0" rIns="0" tIns="0" bIns="0" anchor="ctr">
            <a:noAutofit/>
          </a:bodyPr>
          <a:lstStyle/>
          <a:p>
            <a:pPr algn="l">
              <a:spcAft>
                <a:spcPts val="0"/>
              </a:spcAft>
            </a:pPr>
            <a:r>
              <a:rPr sz="1400" b="1" i="0">
                <a:solidFill>
                  <a:srgbClr val="1E293B"/>
                </a:solidFill>
                <a:latin typeface="Calibri"/>
              </a:rPr>
              <a:t>Inconsistent output structure</a:t>
            </a:r>
          </a:p>
        </p:txBody>
      </p:sp>
      <p:sp>
        <p:nvSpPr>
          <p:cNvPr id="49" name="Right Arrow 48"/>
          <p:cNvSpPr/>
          <p:nvPr/>
        </p:nvSpPr>
        <p:spPr>
          <a:xfrm>
            <a:off x="7863840" y="5052060"/>
            <a:ext cx="182880" cy="14630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29600" y="4974336"/>
            <a:ext cx="3319272" cy="301752"/>
          </a:xfrm>
          <a:prstGeom prst="rect">
            <a:avLst/>
          </a:prstGeom>
          <a:noFill/>
        </p:spPr>
        <p:txBody>
          <a:bodyPr wrap="square" lIns="0" rIns="0" tIns="0" bIns="0" anchor="ctr">
            <a:noAutofit/>
          </a:bodyPr>
          <a:lstStyle/>
          <a:p>
            <a:pPr algn="l">
              <a:spcAft>
                <a:spcPts val="0"/>
              </a:spcAft>
            </a:pPr>
            <a:r>
              <a:rPr sz="1400" b="0" i="0">
                <a:solidFill>
                  <a:srgbClr val="1E293B"/>
                </a:solidFill>
                <a:latin typeface="Calibri"/>
              </a:rPr>
              <a:t>Validate JSON against a fixed schema</a:t>
            </a:r>
          </a:p>
        </p:txBody>
      </p:sp>
      <p:sp>
        <p:nvSpPr>
          <p:cNvPr id="51" name="Rectangle 50"/>
          <p:cNvSpPr/>
          <p:nvPr/>
        </p:nvSpPr>
        <p:spPr>
          <a:xfrm>
            <a:off x="4389120" y="5276088"/>
            <a:ext cx="7251192" cy="301752"/>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26280" y="5276088"/>
            <a:ext cx="3291840" cy="301752"/>
          </a:xfrm>
          <a:prstGeom prst="rect">
            <a:avLst/>
          </a:prstGeom>
          <a:noFill/>
        </p:spPr>
        <p:txBody>
          <a:bodyPr wrap="square" lIns="0" rIns="0" tIns="0" bIns="0" anchor="ctr">
            <a:noAutofit/>
          </a:bodyPr>
          <a:lstStyle/>
          <a:p>
            <a:pPr algn="l">
              <a:spcAft>
                <a:spcPts val="0"/>
              </a:spcAft>
            </a:pPr>
            <a:r>
              <a:rPr sz="1400" b="1" i="0">
                <a:solidFill>
                  <a:srgbClr val="1E293B"/>
                </a:solidFill>
                <a:latin typeface="Calibri"/>
              </a:rPr>
              <a:t>LLM API cost and response time</a:t>
            </a:r>
          </a:p>
        </p:txBody>
      </p:sp>
      <p:sp>
        <p:nvSpPr>
          <p:cNvPr id="53" name="Right Arrow 52"/>
          <p:cNvSpPr/>
          <p:nvPr/>
        </p:nvSpPr>
        <p:spPr>
          <a:xfrm>
            <a:off x="7863840" y="5353812"/>
            <a:ext cx="182880" cy="14630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29600" y="5276088"/>
            <a:ext cx="3319272" cy="301752"/>
          </a:xfrm>
          <a:prstGeom prst="rect">
            <a:avLst/>
          </a:prstGeom>
          <a:noFill/>
        </p:spPr>
        <p:txBody>
          <a:bodyPr wrap="square" lIns="0" rIns="0" tIns="0" bIns="0" anchor="ctr">
            <a:noAutofit/>
          </a:bodyPr>
          <a:lstStyle/>
          <a:p>
            <a:pPr algn="l">
              <a:spcAft>
                <a:spcPts val="0"/>
              </a:spcAft>
            </a:pPr>
            <a:r>
              <a:rPr sz="1400" b="0" i="0">
                <a:solidFill>
                  <a:srgbClr val="1E293B"/>
                </a:solidFill>
                <a:latin typeface="Calibri"/>
              </a:rPr>
              <a:t>Small scope: one chapter, five lessons</a:t>
            </a:r>
          </a:p>
        </p:txBody>
      </p:sp>
      <p:sp>
        <p:nvSpPr>
          <p:cNvPr id="55" name="TextBox 54"/>
          <p:cNvSpPr txBox="1"/>
          <p:nvPr/>
        </p:nvSpPr>
        <p:spPr>
          <a:xfrm>
            <a:off x="4526280" y="5577840"/>
            <a:ext cx="3291840" cy="301752"/>
          </a:xfrm>
          <a:prstGeom prst="rect">
            <a:avLst/>
          </a:prstGeom>
          <a:noFill/>
        </p:spPr>
        <p:txBody>
          <a:bodyPr wrap="square" lIns="0" rIns="0" tIns="0" bIns="0" anchor="ctr">
            <a:noAutofit/>
          </a:bodyPr>
          <a:lstStyle/>
          <a:p>
            <a:pPr algn="l">
              <a:spcAft>
                <a:spcPts val="0"/>
              </a:spcAft>
            </a:pPr>
            <a:r>
              <a:rPr sz="1400" b="1" i="0">
                <a:solidFill>
                  <a:srgbClr val="1E293B"/>
                </a:solidFill>
                <a:latin typeface="Calibri"/>
              </a:rPr>
              <a:t>Copyright and permissions</a:t>
            </a:r>
          </a:p>
        </p:txBody>
      </p:sp>
      <p:sp>
        <p:nvSpPr>
          <p:cNvPr id="56" name="Right Arrow 55"/>
          <p:cNvSpPr/>
          <p:nvPr/>
        </p:nvSpPr>
        <p:spPr>
          <a:xfrm>
            <a:off x="7863840" y="5655564"/>
            <a:ext cx="182880" cy="14630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29600" y="5577840"/>
            <a:ext cx="3319272" cy="301752"/>
          </a:xfrm>
          <a:prstGeom prst="rect">
            <a:avLst/>
          </a:prstGeom>
          <a:noFill/>
        </p:spPr>
        <p:txBody>
          <a:bodyPr wrap="square" lIns="0" rIns="0" tIns="0" bIns="0" anchor="ctr">
            <a:noAutofit/>
          </a:bodyPr>
          <a:lstStyle/>
          <a:p>
            <a:pPr algn="l">
              <a:spcAft>
                <a:spcPts val="0"/>
              </a:spcAft>
            </a:pPr>
            <a:r>
              <a:rPr sz="1400" b="0" i="0">
                <a:solidFill>
                  <a:srgbClr val="1E293B"/>
                </a:solidFill>
                <a:latin typeface="Calibri"/>
              </a:rPr>
              <a:t>Use permitted sample textbooks</a:t>
            </a:r>
          </a:p>
        </p:txBody>
      </p:sp>
      <p:sp>
        <p:nvSpPr>
          <p:cNvPr id="58" name="TextBox 57"/>
          <p:cNvSpPr txBox="1"/>
          <p:nvPr/>
        </p:nvSpPr>
        <p:spPr>
          <a:xfrm>
            <a:off x="4389120" y="5952744"/>
            <a:ext cx="7251192" cy="274320"/>
          </a:xfrm>
          <a:prstGeom prst="rect">
            <a:avLst/>
          </a:prstGeom>
          <a:noFill/>
        </p:spPr>
        <p:txBody>
          <a:bodyPr wrap="square" lIns="0" rIns="0" tIns="0" bIns="0" anchor="t">
            <a:noAutofit/>
          </a:bodyPr>
          <a:lstStyle/>
          <a:p>
            <a:pPr algn="l">
              <a:spcAft>
                <a:spcPts val="0"/>
              </a:spcAft>
            </a:pPr>
            <a:r>
              <a:rPr sz="1200" b="0" i="1">
                <a:solidFill>
                  <a:srgbClr val="5B677A"/>
                </a:solidFill>
                <a:latin typeface="Calibri"/>
              </a:rPr>
              <a:t>Safeguards reduce errors but cannot eliminate them. Not yet deployed or tested.</a:t>
            </a:r>
          </a:p>
        </p:txBody>
      </p:sp>
      <p:sp>
        <p:nvSpPr>
          <p:cNvPr id="59" name="TextBox 58"/>
          <p:cNvSpPr txBox="1"/>
          <p:nvPr/>
        </p:nvSpPr>
        <p:spPr>
          <a:xfrm>
            <a:off x="548640" y="6428232"/>
            <a:ext cx="5486400" cy="274320"/>
          </a:xfrm>
          <a:prstGeom prst="rect">
            <a:avLst/>
          </a:prstGeom>
          <a:noFill/>
        </p:spPr>
        <p:txBody>
          <a:bodyPr wrap="square" lIns="0" rIns="0" tIns="0" bIns="0" anchor="t">
            <a:noAutofit/>
          </a:bodyPr>
          <a:lstStyle/>
          <a:p>
            <a:pPr algn="l">
              <a:spcAft>
                <a:spcPts val="0"/>
              </a:spcAft>
            </a:pPr>
            <a:r>
              <a:rPr sz="1000" b="0" i="0">
                <a:solidFill>
                  <a:srgbClr val="5B677A"/>
                </a:solidFill>
                <a:latin typeface="Calibri"/>
              </a:rPr>
              <a:t>Project Axiora  |  CourseForge AI  |  Team KayCode</a:t>
            </a:r>
          </a:p>
        </p:txBody>
      </p:sp>
      <p:sp>
        <p:nvSpPr>
          <p:cNvPr id="60" name="TextBox 59"/>
          <p:cNvSpPr txBox="1"/>
          <p:nvPr/>
        </p:nvSpPr>
        <p:spPr>
          <a:xfrm>
            <a:off x="9811512" y="6428232"/>
            <a:ext cx="1828800" cy="274320"/>
          </a:xfrm>
          <a:prstGeom prst="rect">
            <a:avLst/>
          </a:prstGeom>
          <a:noFill/>
        </p:spPr>
        <p:txBody>
          <a:bodyPr wrap="square" lIns="0" rIns="0" tIns="0" bIns="0" anchor="t">
            <a:noAutofit/>
          </a:bodyPr>
          <a:lstStyle/>
          <a:p>
            <a:pPr algn="r">
              <a:spcAft>
                <a:spcPts val="0"/>
              </a:spcAft>
            </a:pPr>
            <a:r>
              <a:rPr sz="1000" b="0" i="0">
                <a:solidFill>
                  <a:srgbClr val="5B677A"/>
                </a:solidFill>
                <a:latin typeface="Calibri"/>
              </a:rP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365760"/>
            <a:ext cx="11064240" cy="274320"/>
          </a:xfrm>
          <a:prstGeom prst="rect">
            <a:avLst/>
          </a:prstGeom>
          <a:noFill/>
        </p:spPr>
        <p:txBody>
          <a:bodyPr wrap="square" lIns="0" rIns="0" tIns="0" bIns="0" anchor="t">
            <a:noAutofit/>
          </a:bodyPr>
          <a:lstStyle/>
          <a:p>
            <a:pPr algn="l">
              <a:spcAft>
                <a:spcPts val="0"/>
              </a:spcAft>
            </a:pPr>
            <a:r>
              <a:rPr sz="1300" b="1" i="0">
                <a:solidFill>
                  <a:srgbClr val="10B981"/>
                </a:solidFill>
                <a:latin typeface="Calibri"/>
              </a:rPr>
              <a:t>FUTURE DEVELOPMENT</a:t>
            </a:r>
          </a:p>
        </p:txBody>
      </p:sp>
      <p:sp>
        <p:nvSpPr>
          <p:cNvPr id="3" name="TextBox 2"/>
          <p:cNvSpPr txBox="1"/>
          <p:nvPr/>
        </p:nvSpPr>
        <p:spPr>
          <a:xfrm>
            <a:off x="548640" y="603504"/>
            <a:ext cx="11064240" cy="640080"/>
          </a:xfrm>
          <a:prstGeom prst="rect">
            <a:avLst/>
          </a:prstGeom>
          <a:noFill/>
        </p:spPr>
        <p:txBody>
          <a:bodyPr wrap="square" lIns="0" rIns="0" tIns="0" bIns="0" anchor="t">
            <a:noAutofit/>
          </a:bodyPr>
          <a:lstStyle/>
          <a:p>
            <a:pPr algn="l">
              <a:spcAft>
                <a:spcPts val="0"/>
              </a:spcAft>
            </a:pPr>
            <a:r>
              <a:rPr sz="3400" b="1" i="0">
                <a:solidFill>
                  <a:srgbClr val="FFFFFF"/>
                </a:solidFill>
                <a:latin typeface="Calibri"/>
              </a:rPr>
              <a:t>Roadmap: from one chapter to a teaching toolkit</a:t>
            </a:r>
          </a:p>
        </p:txBody>
      </p:sp>
      <p:cxnSp>
        <p:nvCxnSpPr>
          <p:cNvPr id="4" name="Connector 3"/>
          <p:cNvCxnSpPr/>
          <p:nvPr/>
        </p:nvCxnSpPr>
        <p:spPr>
          <a:xfrm>
            <a:off x="868680" y="1783080"/>
            <a:ext cx="7571231" cy="0"/>
          </a:xfrm>
          <a:prstGeom prst="line">
            <a:avLst/>
          </a:prstGeom>
          <a:ln w="25400">
            <a:solidFill>
              <a:srgbClr val="3A5275"/>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594359" y="15087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800" b="1" i="0">
                <a:solidFill>
                  <a:srgbClr val="0B1F3A"/>
                </a:solidFill>
                <a:latin typeface="Calibri"/>
              </a:rPr>
              <a:t>1</a:t>
            </a:r>
          </a:p>
        </p:txBody>
      </p:sp>
      <p:sp>
        <p:nvSpPr>
          <p:cNvPr id="6" name="Rounded Rectangle 5"/>
          <p:cNvSpPr/>
          <p:nvPr/>
        </p:nvSpPr>
        <p:spPr>
          <a:xfrm>
            <a:off x="548640" y="2331720"/>
            <a:ext cx="3520440" cy="2103120"/>
          </a:xfrm>
          <a:prstGeom prst="roundRect">
            <a:avLst>
              <a:gd name="adj" fmla="val 10000"/>
            </a:avLst>
          </a:prstGeom>
          <a:solidFill>
            <a:srgbClr val="173258"/>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542032"/>
            <a:ext cx="2971800" cy="274320"/>
          </a:xfrm>
          <a:prstGeom prst="rect">
            <a:avLst/>
          </a:prstGeom>
          <a:noFill/>
        </p:spPr>
        <p:txBody>
          <a:bodyPr wrap="square" lIns="0" rIns="0" tIns="0" bIns="0" anchor="t">
            <a:noAutofit/>
          </a:bodyPr>
          <a:lstStyle/>
          <a:p>
            <a:pPr algn="l">
              <a:spcAft>
                <a:spcPts val="0"/>
              </a:spcAft>
            </a:pPr>
            <a:r>
              <a:rPr sz="1300" b="1" i="0">
                <a:solidFill>
                  <a:srgbClr val="10B981"/>
                </a:solidFill>
                <a:latin typeface="Calibri"/>
              </a:rPr>
              <a:t>PHASE 1</a:t>
            </a:r>
          </a:p>
        </p:txBody>
      </p:sp>
      <p:sp>
        <p:nvSpPr>
          <p:cNvPr id="8" name="TextBox 7"/>
          <p:cNvSpPr txBox="1"/>
          <p:nvPr/>
        </p:nvSpPr>
        <p:spPr>
          <a:xfrm>
            <a:off x="822959" y="2880360"/>
            <a:ext cx="2971800" cy="411480"/>
          </a:xfrm>
          <a:prstGeom prst="rect">
            <a:avLst/>
          </a:prstGeom>
          <a:noFill/>
        </p:spPr>
        <p:txBody>
          <a:bodyPr wrap="square" lIns="0" rIns="0" tIns="0" bIns="0" anchor="t">
            <a:noAutofit/>
          </a:bodyPr>
          <a:lstStyle/>
          <a:p>
            <a:pPr algn="l">
              <a:spcAft>
                <a:spcPts val="0"/>
              </a:spcAft>
            </a:pPr>
            <a:r>
              <a:rPr sz="2000" b="1" i="0">
                <a:solidFill>
                  <a:srgbClr val="FFFFFF"/>
                </a:solidFill>
                <a:latin typeface="Calibri"/>
              </a:rPr>
              <a:t>Build and validate the MVP</a:t>
            </a:r>
          </a:p>
        </p:txBody>
      </p:sp>
      <p:sp>
        <p:nvSpPr>
          <p:cNvPr id="9" name="TextBox 8"/>
          <p:cNvSpPr txBox="1"/>
          <p:nvPr/>
        </p:nvSpPr>
        <p:spPr>
          <a:xfrm>
            <a:off x="822959" y="3383280"/>
            <a:ext cx="2971800" cy="914400"/>
          </a:xfrm>
          <a:prstGeom prst="rect">
            <a:avLst/>
          </a:prstGeom>
          <a:noFill/>
        </p:spPr>
        <p:txBody>
          <a:bodyPr wrap="square" lIns="0" rIns="0" tIns="0" bIns="0" anchor="t">
            <a:noAutofit/>
          </a:bodyPr>
          <a:lstStyle/>
          <a:p>
            <a:pPr algn="l">
              <a:spcAft>
                <a:spcPts val="0"/>
              </a:spcAft>
            </a:pPr>
            <a:r>
              <a:rPr sz="1500" b="0" i="0">
                <a:solidFill>
                  <a:srgbClr val="C9D6EA"/>
                </a:solidFill>
                <a:latin typeface="Calibri"/>
              </a:rPr>
              <a:t>One chapter, five lessons, quizzes, page references and teacher review.</a:t>
            </a:r>
          </a:p>
        </p:txBody>
      </p:sp>
      <p:sp>
        <p:nvSpPr>
          <p:cNvPr id="10" name="Oval 9"/>
          <p:cNvSpPr/>
          <p:nvPr/>
        </p:nvSpPr>
        <p:spPr>
          <a:xfrm>
            <a:off x="4379975" y="1508760"/>
            <a:ext cx="548640" cy="548640"/>
          </a:xfrm>
          <a:prstGeom prst="ellipse">
            <a:avLst/>
          </a:prstGeom>
          <a:solidFill>
            <a:srgbClr val="173258"/>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800" b="1" i="0">
                <a:solidFill>
                  <a:srgbClr val="FFFFFF"/>
                </a:solidFill>
                <a:latin typeface="Calibri"/>
              </a:rPr>
              <a:t>2</a:t>
            </a:r>
          </a:p>
        </p:txBody>
      </p:sp>
      <p:sp>
        <p:nvSpPr>
          <p:cNvPr id="11" name="Rounded Rectangle 10"/>
          <p:cNvSpPr/>
          <p:nvPr/>
        </p:nvSpPr>
        <p:spPr>
          <a:xfrm>
            <a:off x="4334255" y="2331720"/>
            <a:ext cx="3520440" cy="2103120"/>
          </a:xfrm>
          <a:prstGeom prst="roundRect">
            <a:avLst>
              <a:gd name="adj" fmla="val 10000"/>
            </a:avLst>
          </a:prstGeom>
          <a:solidFill>
            <a:srgbClr val="173258"/>
          </a:solidFill>
          <a:ln w="15875">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5" y="2542032"/>
            <a:ext cx="2971800" cy="274320"/>
          </a:xfrm>
          <a:prstGeom prst="rect">
            <a:avLst/>
          </a:prstGeom>
          <a:noFill/>
        </p:spPr>
        <p:txBody>
          <a:bodyPr wrap="square" lIns="0" rIns="0" tIns="0" bIns="0" anchor="t">
            <a:noAutofit/>
          </a:bodyPr>
          <a:lstStyle/>
          <a:p>
            <a:pPr algn="l">
              <a:spcAft>
                <a:spcPts val="0"/>
              </a:spcAft>
            </a:pPr>
            <a:r>
              <a:rPr sz="1300" b="1" i="0">
                <a:solidFill>
                  <a:srgbClr val="10B981"/>
                </a:solidFill>
                <a:latin typeface="Calibri"/>
              </a:rPr>
              <a:t>PHASE 2  (FUTURE)</a:t>
            </a:r>
          </a:p>
        </p:txBody>
      </p:sp>
      <p:sp>
        <p:nvSpPr>
          <p:cNvPr id="13" name="TextBox 12"/>
          <p:cNvSpPr txBox="1"/>
          <p:nvPr/>
        </p:nvSpPr>
        <p:spPr>
          <a:xfrm>
            <a:off x="4608575" y="2880360"/>
            <a:ext cx="2971800" cy="411480"/>
          </a:xfrm>
          <a:prstGeom prst="rect">
            <a:avLst/>
          </a:prstGeom>
          <a:noFill/>
        </p:spPr>
        <p:txBody>
          <a:bodyPr wrap="square" lIns="0" rIns="0" tIns="0" bIns="0" anchor="t">
            <a:noAutofit/>
          </a:bodyPr>
          <a:lstStyle/>
          <a:p>
            <a:pPr algn="l">
              <a:spcAft>
                <a:spcPts val="0"/>
              </a:spcAft>
            </a:pPr>
            <a:r>
              <a:rPr sz="2000" b="1" i="0">
                <a:solidFill>
                  <a:srgbClr val="FFFFFF"/>
                </a:solidFill>
                <a:latin typeface="Calibri"/>
              </a:rPr>
              <a:t>Editing and export</a:t>
            </a:r>
          </a:p>
        </p:txBody>
      </p:sp>
      <p:sp>
        <p:nvSpPr>
          <p:cNvPr id="14" name="TextBox 13"/>
          <p:cNvSpPr txBox="1"/>
          <p:nvPr/>
        </p:nvSpPr>
        <p:spPr>
          <a:xfrm>
            <a:off x="4608575" y="3383280"/>
            <a:ext cx="2971800" cy="914400"/>
          </a:xfrm>
          <a:prstGeom prst="rect">
            <a:avLst/>
          </a:prstGeom>
          <a:noFill/>
        </p:spPr>
        <p:txBody>
          <a:bodyPr wrap="square" lIns="0" rIns="0" tIns="0" bIns="0" anchor="t">
            <a:noAutofit/>
          </a:bodyPr>
          <a:lstStyle/>
          <a:p>
            <a:pPr algn="l">
              <a:spcAft>
                <a:spcPts val="0"/>
              </a:spcAft>
            </a:pPr>
            <a:r>
              <a:rPr sz="1500" b="0" i="0">
                <a:solidFill>
                  <a:srgbClr val="C9D6EA"/>
                </a:solidFill>
                <a:latin typeface="Calibri"/>
              </a:rPr>
              <a:t>Teacher editing, downloadable materials and support for more textbooks.</a:t>
            </a:r>
          </a:p>
        </p:txBody>
      </p:sp>
      <p:sp>
        <p:nvSpPr>
          <p:cNvPr id="15" name="Oval 14"/>
          <p:cNvSpPr/>
          <p:nvPr/>
        </p:nvSpPr>
        <p:spPr>
          <a:xfrm>
            <a:off x="8165591" y="1508760"/>
            <a:ext cx="548640" cy="548640"/>
          </a:xfrm>
          <a:prstGeom prst="ellipse">
            <a:avLst/>
          </a:prstGeom>
          <a:solidFill>
            <a:srgbClr val="173258"/>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800" b="1" i="0">
                <a:solidFill>
                  <a:srgbClr val="FFFFFF"/>
                </a:solidFill>
                <a:latin typeface="Calibri"/>
              </a:rPr>
              <a:t>3</a:t>
            </a:r>
          </a:p>
        </p:txBody>
      </p:sp>
      <p:sp>
        <p:nvSpPr>
          <p:cNvPr id="16" name="Rounded Rectangle 15"/>
          <p:cNvSpPr/>
          <p:nvPr/>
        </p:nvSpPr>
        <p:spPr>
          <a:xfrm>
            <a:off x="8119871" y="2331720"/>
            <a:ext cx="3520440" cy="2103120"/>
          </a:xfrm>
          <a:prstGeom prst="roundRect">
            <a:avLst>
              <a:gd name="adj" fmla="val 10000"/>
            </a:avLst>
          </a:prstGeom>
          <a:solidFill>
            <a:srgbClr val="173258"/>
          </a:solidFill>
          <a:ln w="15875">
            <a:solidFill>
              <a:srgbClr val="3A52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2542032"/>
            <a:ext cx="2971800" cy="274320"/>
          </a:xfrm>
          <a:prstGeom prst="rect">
            <a:avLst/>
          </a:prstGeom>
          <a:noFill/>
        </p:spPr>
        <p:txBody>
          <a:bodyPr wrap="square" lIns="0" rIns="0" tIns="0" bIns="0" anchor="t">
            <a:noAutofit/>
          </a:bodyPr>
          <a:lstStyle/>
          <a:p>
            <a:pPr algn="l">
              <a:spcAft>
                <a:spcPts val="0"/>
              </a:spcAft>
            </a:pPr>
            <a:r>
              <a:rPr sz="1300" b="1" i="0">
                <a:solidFill>
                  <a:srgbClr val="10B981"/>
                </a:solidFill>
                <a:latin typeface="Calibri"/>
              </a:rPr>
              <a:t>PHASE 3  (FUTURE)</a:t>
            </a:r>
          </a:p>
        </p:txBody>
      </p:sp>
      <p:sp>
        <p:nvSpPr>
          <p:cNvPr id="18" name="TextBox 17"/>
          <p:cNvSpPr txBox="1"/>
          <p:nvPr/>
        </p:nvSpPr>
        <p:spPr>
          <a:xfrm>
            <a:off x="8394192" y="2880360"/>
            <a:ext cx="2971800" cy="411480"/>
          </a:xfrm>
          <a:prstGeom prst="rect">
            <a:avLst/>
          </a:prstGeom>
          <a:noFill/>
        </p:spPr>
        <p:txBody>
          <a:bodyPr wrap="square" lIns="0" rIns="0" tIns="0" bIns="0" anchor="t">
            <a:noAutofit/>
          </a:bodyPr>
          <a:lstStyle/>
          <a:p>
            <a:pPr algn="l">
              <a:spcAft>
                <a:spcPts val="0"/>
              </a:spcAft>
            </a:pPr>
            <a:r>
              <a:rPr sz="2000" b="1" i="0">
                <a:solidFill>
                  <a:srgbClr val="FFFFFF"/>
                </a:solidFill>
                <a:latin typeface="Calibri"/>
              </a:rPr>
              <a:t>Scale and integrate</a:t>
            </a:r>
          </a:p>
        </p:txBody>
      </p:sp>
      <p:sp>
        <p:nvSpPr>
          <p:cNvPr id="19" name="TextBox 18"/>
          <p:cNvSpPr txBox="1"/>
          <p:nvPr/>
        </p:nvSpPr>
        <p:spPr>
          <a:xfrm>
            <a:off x="8394192" y="3383280"/>
            <a:ext cx="2971800" cy="914400"/>
          </a:xfrm>
          <a:prstGeom prst="rect">
            <a:avLst/>
          </a:prstGeom>
          <a:noFill/>
        </p:spPr>
        <p:txBody>
          <a:bodyPr wrap="square" lIns="0" rIns="0" tIns="0" bIns="0" anchor="t">
            <a:noAutofit/>
          </a:bodyPr>
          <a:lstStyle/>
          <a:p>
            <a:pPr algn="l">
              <a:spcAft>
                <a:spcPts val="0"/>
              </a:spcAft>
            </a:pPr>
            <a:r>
              <a:rPr sz="1500" b="0" i="0">
                <a:solidFill>
                  <a:srgbClr val="C9D6EA"/>
                </a:solidFill>
                <a:latin typeface="Calibri"/>
              </a:rPr>
              <a:t>Multilingual support, curriculum alignment and LMS integration.</a:t>
            </a:r>
          </a:p>
        </p:txBody>
      </p:sp>
      <p:sp>
        <p:nvSpPr>
          <p:cNvPr id="20" name="TextBox 19"/>
          <p:cNvSpPr txBox="1"/>
          <p:nvPr/>
        </p:nvSpPr>
        <p:spPr>
          <a:xfrm>
            <a:off x="1097280" y="4754880"/>
            <a:ext cx="9994392" cy="914400"/>
          </a:xfrm>
          <a:prstGeom prst="rect">
            <a:avLst/>
          </a:prstGeom>
          <a:noFill/>
        </p:spPr>
        <p:txBody>
          <a:bodyPr wrap="square" lIns="0" rIns="0" tIns="0" bIns="0" anchor="ctr">
            <a:noAutofit/>
          </a:bodyPr>
          <a:lstStyle/>
          <a:p>
            <a:pPr algn="ctr">
              <a:spcAft>
                <a:spcPts val="0"/>
              </a:spcAft>
            </a:pPr>
            <a:r>
              <a:rPr sz="2600" b="1" i="0">
                <a:solidFill>
                  <a:srgbClr val="10B981"/>
                </a:solidFill>
                <a:latin typeface="Calibri"/>
              </a:rPr>
              <a:t>“</a:t>
            </a:r>
            <a:r>
              <a:rPr sz="2600" b="1" i="0">
                <a:solidFill>
                  <a:srgbClr val="FFFFFF"/>
                </a:solidFill>
                <a:latin typeface="Calibri"/>
              </a:rPr>
              <a:t>Turn the textbooks schools already have into learning experiences teachers can actually use.</a:t>
            </a:r>
            <a:r>
              <a:rPr sz="2600" b="1" i="0">
                <a:solidFill>
                  <a:srgbClr val="10B981"/>
                </a:solidFill>
                <a:latin typeface="Calibri"/>
              </a:rPr>
              <a:t>”</a:t>
            </a:r>
          </a:p>
        </p:txBody>
      </p:sp>
      <p:sp>
        <p:nvSpPr>
          <p:cNvPr id="21" name="TextBox 20"/>
          <p:cNvSpPr txBox="1"/>
          <p:nvPr/>
        </p:nvSpPr>
        <p:spPr>
          <a:xfrm>
            <a:off x="548640" y="6035040"/>
            <a:ext cx="11091672" cy="365760"/>
          </a:xfrm>
          <a:prstGeom prst="rect">
            <a:avLst/>
          </a:prstGeom>
          <a:noFill/>
        </p:spPr>
        <p:txBody>
          <a:bodyPr wrap="square" lIns="0" rIns="0" tIns="0" bIns="0" anchor="t">
            <a:noAutofit/>
          </a:bodyPr>
          <a:lstStyle/>
          <a:p>
            <a:pPr algn="ctr">
              <a:spcAft>
                <a:spcPts val="0"/>
              </a:spcAft>
            </a:pPr>
            <a:r>
              <a:rPr sz="1300" b="0" i="0">
                <a:solidFill>
                  <a:srgbClr val="C9D6EA"/>
                </a:solidFill>
                <a:latin typeface="Calibri"/>
              </a:rPr>
              <a:t>Thank you  |  Team KayCode  |  Kayes Md Golam Murtuja  |  Al-Farabi Kazakh National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Axiora: CourseForge AI</dc:title>
  <dc:subject/>
  <dc:creator>Kayes Md Golam Murtuja (Team KayCode)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